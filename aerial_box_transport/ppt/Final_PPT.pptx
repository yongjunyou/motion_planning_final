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3" r:id="rId4"/>
    <p:sldId id="275" r:id="rId5"/>
    <p:sldId id="261" r:id="rId6"/>
    <p:sldId id="284" r:id="rId7"/>
    <p:sldId id="259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B"/>
    <a:srgbClr val="E1E7F0"/>
    <a:srgbClr val="F2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281" autoAdjust="0"/>
  </p:normalViewPr>
  <p:slideViewPr>
    <p:cSldViewPr snapToGrid="0" snapToObjects="1">
      <p:cViewPr varScale="1">
        <p:scale>
          <a:sx n="160" d="100"/>
          <a:sy n="160" d="100"/>
        </p:scale>
        <p:origin x="182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WOO LEE" userId="69e257eb43a6beb5" providerId="LiveId" clId="{4EAB0823-FE53-4126-BC76-C902928E16AE}"/>
    <pc:docChg chg="undo custSel modSld">
      <pc:chgData name="JAEWOO LEE" userId="69e257eb43a6beb5" providerId="LiveId" clId="{4EAB0823-FE53-4126-BC76-C902928E16AE}" dt="2026-06-14T21:48:35.044" v="5" actId="20577"/>
      <pc:docMkLst>
        <pc:docMk/>
      </pc:docMkLst>
      <pc:sldChg chg="modSp mod">
        <pc:chgData name="JAEWOO LEE" userId="69e257eb43a6beb5" providerId="LiveId" clId="{4EAB0823-FE53-4126-BC76-C902928E16AE}" dt="2026-06-14T21:48:35.044" v="5" actId="20577"/>
        <pc:sldMkLst>
          <pc:docMk/>
          <pc:sldMk cId="0" sldId="257"/>
        </pc:sldMkLst>
        <pc:spChg chg="mod">
          <ac:chgData name="JAEWOO LEE" userId="69e257eb43a6beb5" providerId="LiveId" clId="{4EAB0823-FE53-4126-BC76-C902928E16AE}" dt="2026-06-14T21:48:35.044" v="5" actId="20577"/>
          <ac:spMkLst>
            <pc:docMk/>
            <pc:sldMk cId="0" sldId="257"/>
            <ac:spMk id="4" creationId="{00000000-0000-0000-0000-000000000000}"/>
          </ac:spMkLst>
        </pc:spChg>
        <pc:picChg chg="mod">
          <ac:chgData name="JAEWOO LEE" userId="69e257eb43a6beb5" providerId="LiveId" clId="{4EAB0823-FE53-4126-BC76-C902928E16AE}" dt="2026-06-14T21:48:21.801" v="0" actId="14100"/>
          <ac:picMkLst>
            <pc:docMk/>
            <pc:sldMk cId="0" sldId="257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85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Hello</a:t>
            </a:r>
            <a:r>
              <a:rPr lang="ko-KR" altLang="ko-KR" dirty="0"/>
              <a:t>. </a:t>
            </a:r>
            <a:r>
              <a:rPr lang="ko-KR" altLang="ko-KR" dirty="0" err="1"/>
              <a:t>Our</a:t>
            </a:r>
            <a:r>
              <a:rPr lang="ko-KR" altLang="ko-KR" dirty="0"/>
              <a:t> </a:t>
            </a:r>
            <a:r>
              <a:rPr lang="ko-KR" altLang="ko-KR" dirty="0" err="1"/>
              <a:t>project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titled</a:t>
            </a:r>
            <a:r>
              <a:rPr lang="ko-KR" altLang="ko-KR" dirty="0"/>
              <a:t> "</a:t>
            </a:r>
            <a:r>
              <a:rPr lang="ko-KR" altLang="ko-KR" dirty="0" err="1"/>
              <a:t>Contact-Aware</a:t>
            </a:r>
            <a:r>
              <a:rPr lang="ko-KR" altLang="ko-KR" dirty="0"/>
              <a:t> Whole-</a:t>
            </a:r>
            <a:r>
              <a:rPr lang="ko-KR" altLang="ko-KR" dirty="0" err="1"/>
              <a:t>Body</a:t>
            </a:r>
            <a:r>
              <a:rPr lang="ko-KR" altLang="ko-KR" dirty="0"/>
              <a:t> </a:t>
            </a:r>
            <a:r>
              <a:rPr lang="ko-KR" altLang="ko-KR" dirty="0" err="1"/>
              <a:t>Trajectory</a:t>
            </a:r>
            <a:r>
              <a:rPr lang="ko-KR" altLang="ko-KR" dirty="0"/>
              <a:t> </a:t>
            </a:r>
            <a:r>
              <a:rPr lang="ko-KR" altLang="ko-KR" dirty="0" err="1"/>
              <a:t>Optimization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Dual-Arm</a:t>
            </a:r>
            <a:r>
              <a:rPr lang="ko-KR" altLang="ko-KR" dirty="0"/>
              <a:t> </a:t>
            </a:r>
            <a:r>
              <a:rPr lang="ko-KR" altLang="ko-KR" dirty="0" err="1"/>
              <a:t>Aerial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Transport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Slip-Aware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Regulation</a:t>
            </a:r>
            <a:r>
              <a:rPr lang="ko-KR" altLang="ko-KR" dirty="0"/>
              <a:t>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Aerial</a:t>
            </a:r>
            <a:r>
              <a:rPr lang="ko-KR" altLang="ko-KR" dirty="0"/>
              <a:t> </a:t>
            </a:r>
            <a:r>
              <a:rPr lang="ko-KR" altLang="ko-KR" dirty="0" err="1"/>
              <a:t>manipulation</a:t>
            </a:r>
            <a:r>
              <a:rPr lang="ko-KR" altLang="ko-KR" dirty="0"/>
              <a:t> </a:t>
            </a:r>
            <a:r>
              <a:rPr lang="ko-KR" altLang="ko-KR" dirty="0" err="1"/>
              <a:t>extends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manipulation</a:t>
            </a:r>
            <a:r>
              <a:rPr lang="ko-KR" altLang="ko-KR" dirty="0"/>
              <a:t> </a:t>
            </a:r>
            <a:r>
              <a:rPr lang="ko-KR" altLang="ko-KR" dirty="0" err="1"/>
              <a:t>workspace</a:t>
            </a:r>
            <a:r>
              <a:rPr lang="ko-KR" altLang="ko-KR" dirty="0"/>
              <a:t> </a:t>
            </a:r>
            <a:r>
              <a:rPr lang="ko-KR" altLang="ko-KR" dirty="0" err="1"/>
              <a:t>into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air</a:t>
            </a:r>
            <a:r>
              <a:rPr lang="ko-KR" altLang="ko-KR" dirty="0"/>
              <a:t>. </a:t>
            </a:r>
            <a:r>
              <a:rPr lang="ko-KR" altLang="ko-KR" dirty="0" err="1"/>
              <a:t>Most</a:t>
            </a:r>
            <a:r>
              <a:rPr lang="ko-KR" altLang="ko-KR" dirty="0"/>
              <a:t> </a:t>
            </a:r>
            <a:r>
              <a:rPr lang="ko-KR" altLang="ko-KR" dirty="0" err="1"/>
              <a:t>prior</a:t>
            </a:r>
            <a:r>
              <a:rPr lang="ko-KR" altLang="ko-KR" dirty="0"/>
              <a:t> </a:t>
            </a:r>
            <a:r>
              <a:rPr lang="ko-KR" altLang="ko-KR" dirty="0" err="1"/>
              <a:t>work</a:t>
            </a:r>
            <a:r>
              <a:rPr lang="ko-KR" altLang="ko-KR" dirty="0"/>
              <a:t> </a:t>
            </a:r>
            <a:r>
              <a:rPr lang="ko-KR" altLang="ko-KR" dirty="0" err="1"/>
              <a:t>uses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single</a:t>
            </a:r>
            <a:r>
              <a:rPr lang="ko-KR" altLang="ko-KR" dirty="0"/>
              <a:t> </a:t>
            </a:r>
            <a:r>
              <a:rPr lang="ko-KR" altLang="ko-KR" dirty="0" err="1"/>
              <a:t>gripper</a:t>
            </a:r>
            <a:r>
              <a:rPr lang="ko-KR" altLang="ko-KR" dirty="0"/>
              <a:t>, </a:t>
            </a:r>
            <a:r>
              <a:rPr lang="ko-KR" altLang="ko-KR" dirty="0" err="1"/>
              <a:t>which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grasp</a:t>
            </a:r>
            <a:r>
              <a:rPr lang="ko-KR" altLang="ko-KR" dirty="0"/>
              <a:t> </a:t>
            </a:r>
            <a:r>
              <a:rPr lang="ko-KR" altLang="ko-KR" dirty="0" err="1"/>
              <a:t>small</a:t>
            </a:r>
            <a:r>
              <a:rPr lang="ko-KR" altLang="ko-KR" dirty="0"/>
              <a:t> </a:t>
            </a:r>
            <a:r>
              <a:rPr lang="ko-KR" altLang="ko-KR" dirty="0" err="1"/>
              <a:t>objects</a:t>
            </a:r>
            <a:r>
              <a:rPr lang="ko-KR" altLang="ko-KR" dirty="0"/>
              <a:t>. With </a:t>
            </a:r>
            <a:r>
              <a:rPr lang="ko-KR" altLang="ko-KR" dirty="0" err="1"/>
              <a:t>two</a:t>
            </a:r>
            <a:r>
              <a:rPr lang="ko-KR" altLang="ko-KR" dirty="0"/>
              <a:t> </a:t>
            </a:r>
            <a:r>
              <a:rPr lang="ko-KR" altLang="ko-KR" dirty="0" err="1"/>
              <a:t>arms</a:t>
            </a:r>
            <a:r>
              <a:rPr lang="ko-KR" altLang="ko-KR" dirty="0"/>
              <a:t>,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grasp</a:t>
            </a:r>
            <a:r>
              <a:rPr lang="ko-KR" altLang="ko-KR" dirty="0"/>
              <a:t> </a:t>
            </a:r>
            <a:r>
              <a:rPr lang="ko-KR" altLang="ko-KR" dirty="0" err="1"/>
              <a:t>large</a:t>
            </a:r>
            <a:r>
              <a:rPr lang="ko-KR" altLang="ko-KR" dirty="0"/>
              <a:t> </a:t>
            </a:r>
            <a:r>
              <a:rPr lang="ko-KR" altLang="ko-KR" dirty="0" err="1"/>
              <a:t>or</a:t>
            </a:r>
            <a:r>
              <a:rPr lang="ko-KR" altLang="ko-KR" dirty="0"/>
              <a:t> </a:t>
            </a:r>
            <a:r>
              <a:rPr lang="ko-KR" altLang="ko-KR" dirty="0" err="1"/>
              <a:t>flat</a:t>
            </a:r>
            <a:r>
              <a:rPr lang="ko-KR" altLang="ko-KR" dirty="0"/>
              <a:t> </a:t>
            </a:r>
            <a:r>
              <a:rPr lang="ko-KR" altLang="ko-KR" dirty="0" err="1"/>
              <a:t>objects</a:t>
            </a:r>
            <a:r>
              <a:rPr lang="ko-KR" altLang="ko-KR" dirty="0"/>
              <a:t> </a:t>
            </a:r>
            <a:r>
              <a:rPr lang="ko-KR" altLang="ko-KR" dirty="0" err="1"/>
              <a:t>through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closure</a:t>
            </a:r>
            <a:r>
              <a:rPr lang="ko-KR" altLang="ko-KR" dirty="0"/>
              <a:t>.</a:t>
            </a:r>
          </a:p>
          <a:p>
            <a:r>
              <a:rPr lang="ko-KR" altLang="ko-KR" dirty="0" err="1"/>
              <a:t>Our</a:t>
            </a:r>
            <a:r>
              <a:rPr lang="ko-KR" altLang="ko-KR" dirty="0"/>
              <a:t> </a:t>
            </a:r>
            <a:r>
              <a:rPr lang="ko-KR" altLang="ko-KR" dirty="0" err="1"/>
              <a:t>task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grasp</a:t>
            </a:r>
            <a:r>
              <a:rPr lang="ko-KR" altLang="ko-KR" dirty="0"/>
              <a:t> and </a:t>
            </a:r>
            <a:r>
              <a:rPr lang="ko-KR" altLang="ko-KR" dirty="0" err="1"/>
              <a:t>transport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dual-arm</a:t>
            </a:r>
            <a:r>
              <a:rPr lang="ko-KR" altLang="ko-KR" dirty="0"/>
              <a:t> </a:t>
            </a:r>
            <a:r>
              <a:rPr lang="ko-KR" altLang="ko-KR" dirty="0" err="1"/>
              <a:t>manipulator</a:t>
            </a:r>
            <a:r>
              <a:rPr lang="ko-KR" altLang="ko-KR" dirty="0"/>
              <a:t>. The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size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known</a:t>
            </a:r>
            <a:r>
              <a:rPr lang="ko-KR" altLang="ko-KR" dirty="0"/>
              <a:t>,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two</a:t>
            </a:r>
            <a:r>
              <a:rPr lang="ko-KR" altLang="ko-KR" dirty="0"/>
              <a:t> </a:t>
            </a:r>
            <a:r>
              <a:rPr lang="ko-KR" altLang="ko-KR" dirty="0" err="1"/>
              <a:t>target</a:t>
            </a:r>
            <a:r>
              <a:rPr lang="ko-KR" altLang="ko-KR" dirty="0"/>
              <a:t> </a:t>
            </a:r>
            <a:r>
              <a:rPr lang="ko-KR" altLang="ko-KR" dirty="0" err="1"/>
              <a:t>poses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at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centers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opposite</a:t>
            </a:r>
            <a:r>
              <a:rPr lang="ko-KR" altLang="ko-KR" dirty="0"/>
              <a:t> </a:t>
            </a:r>
            <a:r>
              <a:rPr lang="ko-KR" altLang="ko-KR" dirty="0" err="1"/>
              <a:t>faces</a:t>
            </a:r>
            <a:r>
              <a:rPr lang="ko-KR" altLang="ko-KR" dirty="0"/>
              <a:t>. The </a:t>
            </a:r>
            <a:r>
              <a:rPr lang="ko-KR" altLang="ko-KR" dirty="0" err="1"/>
              <a:t>full</a:t>
            </a:r>
            <a:r>
              <a:rPr lang="ko-KR" altLang="ko-KR" dirty="0"/>
              <a:t> </a:t>
            </a:r>
            <a:r>
              <a:rPr lang="ko-KR" altLang="ko-KR" dirty="0" err="1"/>
              <a:t>cycle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approach</a:t>
            </a:r>
            <a:r>
              <a:rPr lang="ko-KR" altLang="ko-KR" dirty="0"/>
              <a:t>, </a:t>
            </a:r>
            <a:r>
              <a:rPr lang="ko-KR" altLang="ko-KR" dirty="0" err="1"/>
              <a:t>grasp</a:t>
            </a:r>
            <a:r>
              <a:rPr lang="ko-KR" altLang="ko-KR" dirty="0"/>
              <a:t>, </a:t>
            </a:r>
            <a:r>
              <a:rPr lang="ko-KR" altLang="ko-KR" dirty="0" err="1"/>
              <a:t>lift</a:t>
            </a:r>
            <a:r>
              <a:rPr lang="ko-KR" altLang="ko-KR" dirty="0"/>
              <a:t>, </a:t>
            </a:r>
            <a:r>
              <a:rPr lang="ko-KR" altLang="ko-KR" dirty="0" err="1"/>
              <a:t>transport</a:t>
            </a:r>
            <a:r>
              <a:rPr lang="ko-KR" altLang="ko-KR" dirty="0"/>
              <a:t>, and </a:t>
            </a:r>
            <a:r>
              <a:rPr lang="ko-KR" altLang="ko-KR" dirty="0" err="1"/>
              <a:t>place</a:t>
            </a:r>
            <a:r>
              <a:rPr lang="ko-KR" altLang="ko-KR" dirty="0"/>
              <a:t>. The </a:t>
            </a:r>
            <a:r>
              <a:rPr lang="ko-KR" altLang="ko-KR" dirty="0" err="1"/>
              <a:t>end-effectors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deformable</a:t>
            </a:r>
            <a:r>
              <a:rPr lang="ko-KR" altLang="ko-KR" dirty="0"/>
              <a:t> </a:t>
            </a:r>
            <a:r>
              <a:rPr lang="ko-KR" altLang="ko-KR" dirty="0" err="1"/>
              <a:t>pads</a:t>
            </a:r>
            <a:r>
              <a:rPr lang="ko-KR" altLang="ko-KR" dirty="0"/>
              <a:t>, </a:t>
            </a:r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regulated</a:t>
            </a:r>
            <a:r>
              <a:rPr lang="ko-KR" altLang="ko-KR" dirty="0"/>
              <a:t> </a:t>
            </a:r>
            <a:r>
              <a:rPr lang="ko-KR" altLang="ko-KR" dirty="0" err="1"/>
              <a:t>through</a:t>
            </a:r>
            <a:r>
              <a:rPr lang="ko-KR" altLang="ko-KR" dirty="0"/>
              <a:t> </a:t>
            </a:r>
            <a:r>
              <a:rPr lang="ko-KR" altLang="ko-KR" dirty="0" err="1"/>
              <a:t>penetration</a:t>
            </a:r>
            <a:r>
              <a:rPr lang="ko-KR" altLang="ko-KR" dirty="0"/>
              <a:t>.</a:t>
            </a:r>
          </a:p>
          <a:p>
            <a:r>
              <a:rPr lang="ko-KR" altLang="ko-KR" dirty="0" err="1"/>
              <a:t>However</a:t>
            </a:r>
            <a:r>
              <a:rPr lang="ko-KR" altLang="ko-KR" dirty="0"/>
              <a:t>, </a:t>
            </a:r>
            <a:r>
              <a:rPr lang="ko-KR" altLang="ko-KR" dirty="0" err="1"/>
              <a:t>since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held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friction</a:t>
            </a:r>
            <a:r>
              <a:rPr lang="ko-KR" altLang="ko-KR" dirty="0"/>
              <a:t>,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tangential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bounded</a:t>
            </a:r>
            <a:r>
              <a:rPr lang="ko-KR" altLang="ko-KR" dirty="0"/>
              <a:t>,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slip</a:t>
            </a:r>
            <a:r>
              <a:rPr lang="ko-KR" altLang="ko-KR" dirty="0"/>
              <a:t> </a:t>
            </a:r>
            <a:r>
              <a:rPr lang="ko-KR" altLang="ko-KR" dirty="0" err="1"/>
              <a:t>during</a:t>
            </a:r>
            <a:r>
              <a:rPr lang="ko-KR" altLang="ko-KR" dirty="0"/>
              <a:t> </a:t>
            </a:r>
            <a:r>
              <a:rPr lang="ko-KR" altLang="ko-KR" dirty="0" err="1"/>
              <a:t>fast</a:t>
            </a:r>
            <a:r>
              <a:rPr lang="ko-KR" altLang="ko-KR" dirty="0"/>
              <a:t> </a:t>
            </a:r>
            <a:r>
              <a:rPr lang="ko-KR" altLang="ko-KR" dirty="0" err="1"/>
              <a:t>transport</a:t>
            </a:r>
            <a:r>
              <a:rPr lang="ko-KR" altLang="ko-KR" dirty="0"/>
              <a:t>.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address</a:t>
            </a:r>
            <a:r>
              <a:rPr lang="ko-KR" altLang="ko-KR" dirty="0"/>
              <a:t> </a:t>
            </a:r>
            <a:r>
              <a:rPr lang="ko-KR" altLang="ko-KR" dirty="0" err="1"/>
              <a:t>this</a:t>
            </a:r>
            <a:r>
              <a:rPr lang="ko-KR" altLang="ko-KR" dirty="0"/>
              <a:t>,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regulate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according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acceleration</a:t>
            </a:r>
            <a:r>
              <a:rPr lang="ko-KR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organized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related</a:t>
            </a:r>
            <a:r>
              <a:rPr lang="ko-KR" altLang="ko-KR" dirty="0"/>
              <a:t> </a:t>
            </a:r>
            <a:r>
              <a:rPr lang="ko-KR" altLang="ko-KR" dirty="0" err="1"/>
              <a:t>work</a:t>
            </a:r>
            <a:r>
              <a:rPr lang="ko-KR" altLang="ko-KR" dirty="0"/>
              <a:t> </a:t>
            </a:r>
            <a:r>
              <a:rPr lang="ko-KR" altLang="ko-KR" dirty="0" err="1"/>
              <a:t>along</a:t>
            </a:r>
            <a:r>
              <a:rPr lang="ko-KR" altLang="ko-KR" dirty="0"/>
              <a:t> </a:t>
            </a:r>
            <a:r>
              <a:rPr lang="ko-KR" altLang="ko-KR" dirty="0" err="1"/>
              <a:t>two</a:t>
            </a:r>
            <a:r>
              <a:rPr lang="ko-KR" altLang="ko-KR" dirty="0"/>
              <a:t> </a:t>
            </a:r>
            <a:r>
              <a:rPr lang="ko-KR" altLang="ko-KR" dirty="0" err="1"/>
              <a:t>axes</a:t>
            </a:r>
            <a:r>
              <a:rPr lang="ko-KR" altLang="ko-KR" dirty="0"/>
              <a:t>, </a:t>
            </a:r>
            <a:r>
              <a:rPr lang="ko-KR" altLang="ko-KR" dirty="0" err="1"/>
              <a:t>single-arm</a:t>
            </a:r>
            <a:r>
              <a:rPr lang="ko-KR" altLang="ko-KR" dirty="0"/>
              <a:t> </a:t>
            </a:r>
            <a:r>
              <a:rPr lang="ko-KR" altLang="ko-KR" dirty="0" err="1"/>
              <a:t>versus</a:t>
            </a:r>
            <a:r>
              <a:rPr lang="ko-KR" altLang="ko-KR" dirty="0"/>
              <a:t> </a:t>
            </a:r>
            <a:r>
              <a:rPr lang="ko-KR" altLang="ko-KR" dirty="0" err="1"/>
              <a:t>dual-arm</a:t>
            </a:r>
            <a:r>
              <a:rPr lang="ko-KR" altLang="ko-KR" dirty="0"/>
              <a:t> and </a:t>
            </a:r>
            <a:r>
              <a:rPr lang="ko-KR" altLang="ko-KR" dirty="0" err="1"/>
              <a:t>grounded</a:t>
            </a:r>
            <a:r>
              <a:rPr lang="ko-KR" altLang="ko-KR" dirty="0"/>
              <a:t> </a:t>
            </a:r>
            <a:r>
              <a:rPr lang="ko-KR" altLang="ko-KR" dirty="0" err="1"/>
              <a:t>versus</a:t>
            </a:r>
            <a:r>
              <a:rPr lang="ko-KR" altLang="ko-KR" dirty="0"/>
              <a:t> </a:t>
            </a:r>
            <a:r>
              <a:rPr lang="ko-KR" altLang="ko-KR" dirty="0" err="1"/>
              <a:t>floating</a:t>
            </a:r>
            <a:r>
              <a:rPr lang="ko-KR" altLang="ko-KR" dirty="0"/>
              <a:t> </a:t>
            </a:r>
            <a:r>
              <a:rPr lang="ko-KR" altLang="ko-KR" dirty="0" err="1"/>
              <a:t>base</a:t>
            </a:r>
            <a:r>
              <a:rPr lang="ko-KR" altLang="ko-KR" dirty="0"/>
              <a:t>. </a:t>
            </a:r>
            <a:r>
              <a:rPr lang="ko-KR" altLang="ko-KR" dirty="0" err="1"/>
              <a:t>Due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time</a:t>
            </a:r>
            <a:r>
              <a:rPr lang="ko-KR" altLang="ko-KR" dirty="0"/>
              <a:t>, </a:t>
            </a:r>
            <a:r>
              <a:rPr lang="ko-KR" altLang="ko-KR" dirty="0" err="1"/>
              <a:t>I</a:t>
            </a:r>
            <a:r>
              <a:rPr lang="ko-KR" altLang="ko-KR" dirty="0"/>
              <a:t> </a:t>
            </a:r>
            <a:r>
              <a:rPr lang="ko-KR" altLang="ko-KR" dirty="0" err="1"/>
              <a:t>will</a:t>
            </a:r>
            <a:r>
              <a:rPr lang="ko-KR" altLang="ko-KR" dirty="0"/>
              <a:t> </a:t>
            </a:r>
            <a:r>
              <a:rPr lang="ko-KR" altLang="ko-KR" dirty="0" err="1"/>
              <a:t>skip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details</a:t>
            </a:r>
            <a:r>
              <a:rPr lang="ko-KR" altLang="ko-KR" dirty="0"/>
              <a:t>. The </a:t>
            </a:r>
            <a:r>
              <a:rPr lang="ko-KR" altLang="ko-KR" dirty="0" err="1"/>
              <a:t>key</a:t>
            </a:r>
            <a:r>
              <a:rPr lang="ko-KR" altLang="ko-KR" dirty="0"/>
              <a:t> </a:t>
            </a:r>
            <a:r>
              <a:rPr lang="ko-KR" altLang="ko-KR" dirty="0" err="1"/>
              <a:t>point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that</a:t>
            </a:r>
            <a:r>
              <a:rPr lang="ko-KR" altLang="ko-KR" dirty="0"/>
              <a:t> </a:t>
            </a:r>
            <a:r>
              <a:rPr lang="ko-KR" altLang="ko-KR" dirty="0" err="1"/>
              <a:t>an</a:t>
            </a:r>
            <a:r>
              <a:rPr lang="ko-KR" altLang="ko-KR" dirty="0"/>
              <a:t> </a:t>
            </a:r>
            <a:r>
              <a:rPr lang="ko-KR" altLang="ko-KR" dirty="0" err="1"/>
              <a:t>omnidirectional</a:t>
            </a:r>
            <a:r>
              <a:rPr lang="ko-KR" altLang="ko-KR" dirty="0"/>
              <a:t> </a:t>
            </a:r>
            <a:r>
              <a:rPr lang="ko-KR" altLang="ko-KR" dirty="0" err="1"/>
              <a:t>platform</a:t>
            </a:r>
            <a:r>
              <a:rPr lang="ko-KR" altLang="ko-KR" dirty="0"/>
              <a:t> </a:t>
            </a:r>
            <a:r>
              <a:rPr lang="ko-KR" altLang="ko-KR" dirty="0" err="1"/>
              <a:t>demonstrated</a:t>
            </a:r>
            <a:r>
              <a:rPr lang="ko-KR" altLang="ko-KR" dirty="0"/>
              <a:t> </a:t>
            </a:r>
            <a:r>
              <a:rPr lang="ko-KR" altLang="ko-KR" dirty="0" err="1"/>
              <a:t>control</a:t>
            </a:r>
            <a:r>
              <a:rPr lang="ko-KR" altLang="ko-KR" dirty="0"/>
              <a:t> and </a:t>
            </a:r>
            <a:r>
              <a:rPr lang="ko-KR" altLang="ko-KR" dirty="0" err="1"/>
              <a:t>roof-landing</a:t>
            </a:r>
            <a:r>
              <a:rPr lang="ko-KR" altLang="ko-KR" dirty="0"/>
              <a:t>, </a:t>
            </a:r>
            <a:r>
              <a:rPr lang="ko-KR" altLang="ko-KR" dirty="0" err="1"/>
              <a:t>but</a:t>
            </a:r>
            <a:r>
              <a:rPr lang="ko-KR" altLang="ko-KR" dirty="0"/>
              <a:t> </a:t>
            </a:r>
            <a:r>
              <a:rPr lang="ko-KR" altLang="ko-KR" dirty="0" err="1"/>
              <a:t>force-aware</a:t>
            </a:r>
            <a:r>
              <a:rPr lang="ko-KR" altLang="ko-KR" dirty="0"/>
              <a:t> </a:t>
            </a:r>
            <a:r>
              <a:rPr lang="ko-KR" altLang="ko-KR" dirty="0" err="1"/>
              <a:t>whole-body</a:t>
            </a:r>
            <a:r>
              <a:rPr lang="ko-KR" altLang="ko-KR" dirty="0"/>
              <a:t> </a:t>
            </a:r>
            <a:r>
              <a:rPr lang="ko-KR" altLang="ko-KR" dirty="0" err="1"/>
              <a:t>planning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still</a:t>
            </a:r>
            <a:r>
              <a:rPr lang="ko-KR" altLang="ko-KR" dirty="0"/>
              <a:t> </a:t>
            </a:r>
            <a:r>
              <a:rPr lang="ko-KR" altLang="ko-KR" dirty="0" err="1"/>
              <a:t>open</a:t>
            </a:r>
            <a:r>
              <a:rPr lang="ko-KR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7069-D63C-432E-BE81-22E594B6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D41EA-3781-7B75-908B-A137903DC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62098-D801-5470-FA2A-CAAC0D335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Now</a:t>
            </a:r>
            <a:r>
              <a:rPr lang="ko-KR" altLang="ko-KR" dirty="0"/>
              <a:t> </a:t>
            </a:r>
            <a:r>
              <a:rPr lang="ko-KR" altLang="ko-KR" dirty="0" err="1"/>
              <a:t>I</a:t>
            </a:r>
            <a:r>
              <a:rPr lang="ko-KR" altLang="ko-KR" dirty="0"/>
              <a:t> </a:t>
            </a:r>
            <a:r>
              <a:rPr lang="ko-KR" altLang="ko-KR" dirty="0" err="1"/>
              <a:t>will</a:t>
            </a:r>
            <a:r>
              <a:rPr lang="ko-KR" altLang="ko-KR" dirty="0"/>
              <a:t> </a:t>
            </a:r>
            <a:r>
              <a:rPr lang="ko-KR" altLang="ko-KR" dirty="0" err="1"/>
              <a:t>explain</a:t>
            </a:r>
            <a:r>
              <a:rPr lang="ko-KR" altLang="ko-KR" dirty="0"/>
              <a:t> </a:t>
            </a:r>
            <a:r>
              <a:rPr lang="ko-KR" altLang="ko-KR" dirty="0" err="1"/>
              <a:t>our</a:t>
            </a:r>
            <a:r>
              <a:rPr lang="ko-KR" altLang="ko-KR" dirty="0"/>
              <a:t> </a:t>
            </a:r>
            <a:r>
              <a:rPr lang="ko-KR" altLang="ko-KR" dirty="0" err="1"/>
              <a:t>proposed</a:t>
            </a:r>
            <a:r>
              <a:rPr lang="ko-KR" altLang="ko-KR" dirty="0"/>
              <a:t> </a:t>
            </a:r>
            <a:r>
              <a:rPr lang="ko-KR" altLang="ko-KR" dirty="0" err="1"/>
              <a:t>approach</a:t>
            </a:r>
            <a:r>
              <a:rPr lang="ko-KR" altLang="ko-KR" dirty="0"/>
              <a:t>. The </a:t>
            </a:r>
            <a:r>
              <a:rPr lang="ko-KR" altLang="ko-KR" dirty="0" err="1"/>
              <a:t>diagram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left</a:t>
            </a:r>
            <a:r>
              <a:rPr lang="ko-KR" altLang="ko-KR" dirty="0"/>
              <a:t> </a:t>
            </a:r>
            <a:r>
              <a:rPr lang="ko-KR" altLang="ko-KR" dirty="0" err="1"/>
              <a:t>shows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pipeline</a:t>
            </a:r>
            <a:r>
              <a:rPr lang="ko-KR" altLang="ko-KR" dirty="0"/>
              <a:t>, </a:t>
            </a:r>
            <a:r>
              <a:rPr lang="ko-KR" altLang="ko-KR" dirty="0" err="1"/>
              <a:t>where</a:t>
            </a:r>
            <a:r>
              <a:rPr lang="ko-KR" altLang="ko-KR" dirty="0"/>
              <a:t> </a:t>
            </a:r>
            <a:r>
              <a:rPr lang="ko-KR" altLang="ko-KR" dirty="0" err="1"/>
              <a:t>each</a:t>
            </a:r>
            <a:r>
              <a:rPr lang="ko-KR" altLang="ko-KR" dirty="0"/>
              <a:t> </a:t>
            </a:r>
            <a:r>
              <a:rPr lang="ko-KR" altLang="ko-KR" dirty="0" err="1"/>
              <a:t>module</a:t>
            </a:r>
            <a:r>
              <a:rPr lang="ko-KR" altLang="ko-KR" dirty="0"/>
              <a:t> </a:t>
            </a:r>
            <a:r>
              <a:rPr lang="ko-KR" altLang="ko-KR" dirty="0" err="1"/>
              <a:t>feeds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single</a:t>
            </a:r>
            <a:r>
              <a:rPr lang="ko-KR" altLang="ko-KR" dirty="0"/>
              <a:t> </a:t>
            </a:r>
            <a:r>
              <a:rPr lang="ko-KR" altLang="ko-KR" dirty="0" err="1"/>
              <a:t>planner</a:t>
            </a:r>
            <a:r>
              <a:rPr lang="ko-KR" altLang="ko-KR" dirty="0"/>
              <a:t>. The </a:t>
            </a:r>
            <a:r>
              <a:rPr lang="ko-KR" altLang="ko-KR" dirty="0" err="1"/>
              <a:t>whole-body</a:t>
            </a:r>
            <a:r>
              <a:rPr lang="ko-KR" altLang="ko-KR" dirty="0"/>
              <a:t> </a:t>
            </a:r>
            <a:r>
              <a:rPr lang="ko-KR" altLang="ko-KR" dirty="0" err="1"/>
              <a:t>dynamics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built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CasADi</a:t>
            </a:r>
            <a:r>
              <a:rPr lang="ko-KR" altLang="ko-KR" dirty="0"/>
              <a:t>, </a:t>
            </a:r>
            <a:r>
              <a:rPr lang="ko-KR" altLang="ko-KR" dirty="0" err="1"/>
              <a:t>together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smooth</a:t>
            </a:r>
            <a:r>
              <a:rPr lang="ko-KR" altLang="ko-KR" dirty="0"/>
              <a:t>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and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module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friction</a:t>
            </a:r>
            <a:r>
              <a:rPr lang="ko-KR" altLang="ko-KR" dirty="0"/>
              <a:t>. The </a:t>
            </a:r>
            <a:r>
              <a:rPr lang="ko-KR" altLang="ko-KR" dirty="0" err="1"/>
              <a:t>planner</a:t>
            </a:r>
            <a:r>
              <a:rPr lang="ko-KR" altLang="ko-KR" dirty="0"/>
              <a:t> </a:t>
            </a:r>
            <a:r>
              <a:rPr lang="ko-KR" altLang="ko-KR" dirty="0" err="1"/>
              <a:t>output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then</a:t>
            </a:r>
            <a:r>
              <a:rPr lang="ko-KR" altLang="ko-KR" dirty="0"/>
              <a:t> </a:t>
            </a:r>
            <a:r>
              <a:rPr lang="ko-KR" altLang="ko-KR" dirty="0" err="1"/>
              <a:t>tracked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controller</a:t>
            </a:r>
            <a:r>
              <a:rPr lang="ko-KR" altLang="ko-KR" dirty="0"/>
              <a:t> and </a:t>
            </a:r>
            <a:r>
              <a:rPr lang="ko-KR" altLang="ko-KR" dirty="0" err="1"/>
              <a:t>simulated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Isaac</a:t>
            </a:r>
            <a:r>
              <a:rPr lang="ko-KR" altLang="ko-KR" dirty="0"/>
              <a:t> </a:t>
            </a:r>
            <a:r>
              <a:rPr lang="ko-KR" altLang="ko-KR" dirty="0" err="1"/>
              <a:t>Sim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dirty="0"/>
              <a:t>First,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plan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base</a:t>
            </a:r>
            <a:r>
              <a:rPr lang="ko-KR" altLang="ko-KR" dirty="0"/>
              <a:t> SE(3) </a:t>
            </a:r>
            <a:r>
              <a:rPr lang="ko-KR" altLang="ko-KR" dirty="0" err="1"/>
              <a:t>trajectory</a:t>
            </a:r>
            <a:r>
              <a:rPr lang="ko-KR" altLang="ko-KR" dirty="0"/>
              <a:t>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arm</a:t>
            </a:r>
            <a:r>
              <a:rPr lang="ko-KR" altLang="ko-KR" dirty="0"/>
              <a:t> </a:t>
            </a:r>
            <a:r>
              <a:rPr lang="ko-KR" altLang="ko-KR" dirty="0" err="1"/>
              <a:t>joint</a:t>
            </a:r>
            <a:r>
              <a:rPr lang="ko-KR" altLang="ko-KR" dirty="0"/>
              <a:t> </a:t>
            </a:r>
            <a:r>
              <a:rPr lang="ko-KR" altLang="ko-KR" dirty="0" err="1"/>
              <a:t>references</a:t>
            </a:r>
            <a:r>
              <a:rPr lang="ko-KR" altLang="ko-KR" dirty="0"/>
              <a:t>, and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controller</a:t>
            </a:r>
            <a:r>
              <a:rPr lang="ko-KR" altLang="ko-KR" dirty="0"/>
              <a:t> </a:t>
            </a:r>
            <a:r>
              <a:rPr lang="ko-KR" altLang="ko-KR" dirty="0" err="1"/>
              <a:t>handles</a:t>
            </a:r>
            <a:r>
              <a:rPr lang="ko-KR" altLang="ko-KR" dirty="0"/>
              <a:t> </a:t>
            </a:r>
            <a:r>
              <a:rPr lang="ko-KR" altLang="ko-KR" dirty="0" err="1"/>
              <a:t>thrust</a:t>
            </a:r>
            <a:r>
              <a:rPr lang="ko-KR" altLang="ko-KR" dirty="0"/>
              <a:t> and </a:t>
            </a:r>
            <a:r>
              <a:rPr lang="ko-KR" altLang="ko-KR" dirty="0" err="1"/>
              <a:t>tilt</a:t>
            </a:r>
            <a:r>
              <a:rPr lang="ko-KR" altLang="ko-KR" dirty="0"/>
              <a:t> </a:t>
            </a:r>
            <a:r>
              <a:rPr lang="ko-KR" altLang="ko-KR" dirty="0" err="1"/>
              <a:t>allocation</a:t>
            </a:r>
            <a:r>
              <a:rPr lang="ko-KR" altLang="ko-KR" dirty="0"/>
              <a:t>. </a:t>
            </a:r>
            <a:r>
              <a:rPr lang="ko-KR" altLang="ko-KR" dirty="0" err="1"/>
              <a:t>Second</a:t>
            </a:r>
            <a:r>
              <a:rPr lang="ko-KR" altLang="ko-KR" dirty="0"/>
              <a:t>,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smooth</a:t>
            </a:r>
            <a:r>
              <a:rPr lang="ko-KR" altLang="ko-KR" dirty="0"/>
              <a:t>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makes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differentiable</a:t>
            </a:r>
            <a:r>
              <a:rPr lang="ko-KR" altLang="ko-KR" dirty="0"/>
              <a:t> </a:t>
            </a:r>
            <a:r>
              <a:rPr lang="ko-KR" altLang="ko-KR" dirty="0" err="1"/>
              <a:t>function</a:t>
            </a:r>
            <a:r>
              <a:rPr lang="ko-KR" altLang="ko-KR" dirty="0"/>
              <a:t> of </a:t>
            </a:r>
            <a:r>
              <a:rPr lang="ko-KR" altLang="ko-KR" dirty="0" err="1"/>
              <a:t>penetration</a:t>
            </a:r>
            <a:r>
              <a:rPr lang="ko-KR" altLang="ko-KR" dirty="0"/>
              <a:t>. Third,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single</a:t>
            </a:r>
            <a:r>
              <a:rPr lang="ko-KR" altLang="ko-KR" dirty="0"/>
              <a:t> </a:t>
            </a:r>
            <a:r>
              <a:rPr lang="ko-KR" altLang="ko-KR" dirty="0" err="1"/>
              <a:t>planner</a:t>
            </a:r>
            <a:r>
              <a:rPr lang="ko-KR" altLang="ko-KR" dirty="0"/>
              <a:t> </a:t>
            </a:r>
            <a:r>
              <a:rPr lang="ko-KR" altLang="ko-KR" dirty="0" err="1"/>
              <a:t>covers</a:t>
            </a:r>
            <a:r>
              <a:rPr lang="ko-KR" altLang="ko-KR" dirty="0"/>
              <a:t> </a:t>
            </a:r>
            <a:r>
              <a:rPr lang="ko-KR" altLang="ko-KR" dirty="0" err="1"/>
              <a:t>all</a:t>
            </a:r>
            <a:r>
              <a:rPr lang="ko-KR" altLang="ko-KR" dirty="0"/>
              <a:t> </a:t>
            </a:r>
            <a:r>
              <a:rPr lang="ko-KR" altLang="ko-KR" dirty="0" err="1"/>
              <a:t>four</a:t>
            </a:r>
            <a:r>
              <a:rPr lang="ko-KR" altLang="ko-KR" dirty="0"/>
              <a:t> </a:t>
            </a:r>
            <a:r>
              <a:rPr lang="ko-KR" altLang="ko-KR" dirty="0" err="1"/>
              <a:t>phases</a:t>
            </a:r>
            <a:r>
              <a:rPr lang="ko-KR" altLang="ko-KR" dirty="0"/>
              <a:t> </a:t>
            </a:r>
            <a:r>
              <a:rPr lang="ko-KR" altLang="ko-KR" dirty="0" err="1"/>
              <a:t>through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simple</a:t>
            </a:r>
            <a:r>
              <a:rPr lang="ko-KR" altLang="ko-KR" dirty="0"/>
              <a:t> </a:t>
            </a:r>
            <a:r>
              <a:rPr lang="ko-KR" altLang="ko-KR" dirty="0" err="1"/>
              <a:t>state</a:t>
            </a:r>
            <a:r>
              <a:rPr lang="ko-KR" altLang="ko-KR" dirty="0"/>
              <a:t> </a:t>
            </a:r>
            <a:r>
              <a:rPr lang="ko-KR" altLang="ko-KR" dirty="0" err="1"/>
              <a:t>machine</a:t>
            </a:r>
            <a:r>
              <a:rPr lang="ko-KR" altLang="ko-KR" dirty="0"/>
              <a:t>. </a:t>
            </a:r>
            <a:r>
              <a:rPr lang="ko-KR" altLang="ko-KR" dirty="0" err="1"/>
              <a:t>Finally</a:t>
            </a:r>
            <a:r>
              <a:rPr lang="ko-KR" altLang="ko-KR" dirty="0"/>
              <a:t>, </a:t>
            </a:r>
            <a:r>
              <a:rPr lang="ko-KR" altLang="ko-KR" dirty="0" err="1"/>
              <a:t>since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box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held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friction</a:t>
            </a:r>
            <a:r>
              <a:rPr lang="ko-KR" altLang="ko-KR" dirty="0"/>
              <a:t>,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regulate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</a:t>
            </a:r>
            <a:r>
              <a:rPr lang="ko-KR" altLang="ko-KR" dirty="0" err="1"/>
              <a:t>setpoint</a:t>
            </a:r>
            <a:r>
              <a:rPr lang="ko-KR" altLang="ko-KR" dirty="0"/>
              <a:t> </a:t>
            </a:r>
            <a:r>
              <a:rPr lang="ko-KR" altLang="ko-KR" dirty="0" err="1"/>
              <a:t>according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acceleration</a:t>
            </a:r>
            <a:r>
              <a:rPr lang="ko-KR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9949-CB46-9754-B9B0-CF7B35ADE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82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experiments</a:t>
            </a:r>
            <a:r>
              <a:rPr lang="ko-KR" altLang="ko-KR" dirty="0"/>
              <a:t>,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Isaac</a:t>
            </a:r>
            <a:r>
              <a:rPr lang="ko-KR" altLang="ko-KR" dirty="0"/>
              <a:t> </a:t>
            </a:r>
            <a:r>
              <a:rPr lang="ko-KR" altLang="ko-KR" dirty="0" err="1"/>
              <a:t>Sim</a:t>
            </a:r>
            <a:r>
              <a:rPr lang="ko-KR" altLang="ko-KR" dirty="0"/>
              <a:t> </a:t>
            </a:r>
            <a:r>
              <a:rPr lang="ko-KR" altLang="ko-KR" dirty="0" err="1"/>
              <a:t>environment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already</a:t>
            </a:r>
            <a:r>
              <a:rPr lang="ko-KR" altLang="ko-KR" dirty="0"/>
              <a:t> </a:t>
            </a:r>
            <a:r>
              <a:rPr lang="ko-KR" altLang="ko-KR" dirty="0" err="1"/>
              <a:t>set</a:t>
            </a:r>
            <a:r>
              <a:rPr lang="ko-KR" altLang="ko-KR" dirty="0"/>
              <a:t> </a:t>
            </a:r>
            <a:r>
              <a:rPr lang="ko-KR" altLang="ko-KR" dirty="0" err="1"/>
              <a:t>up</a:t>
            </a:r>
            <a:r>
              <a:rPr lang="ko-KR" altLang="ko-KR" dirty="0"/>
              <a:t>, and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plan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use</a:t>
            </a:r>
            <a:r>
              <a:rPr lang="ko-KR" altLang="ko-KR" dirty="0"/>
              <a:t> </a:t>
            </a:r>
            <a:r>
              <a:rPr lang="ko-KR" altLang="ko-KR" dirty="0" err="1"/>
              <a:t>Pinocchio</a:t>
            </a:r>
            <a:r>
              <a:rPr lang="ko-KR" altLang="ko-KR" dirty="0"/>
              <a:t>, </a:t>
            </a:r>
            <a:r>
              <a:rPr lang="ko-KR" altLang="ko-KR" dirty="0" err="1"/>
              <a:t>CasADi</a:t>
            </a:r>
            <a:r>
              <a:rPr lang="ko-KR" altLang="ko-KR" dirty="0"/>
              <a:t>, and IPOPT. The </a:t>
            </a:r>
            <a:r>
              <a:rPr lang="ko-KR" altLang="ko-KR" dirty="0" err="1"/>
              <a:t>baselines</a:t>
            </a:r>
            <a:r>
              <a:rPr lang="ko-KR" altLang="ko-KR" dirty="0"/>
              <a:t>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expect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compare</a:t>
            </a:r>
            <a:r>
              <a:rPr lang="ko-KR" altLang="ko-KR" dirty="0"/>
              <a:t> </a:t>
            </a:r>
            <a:r>
              <a:rPr lang="ko-KR" altLang="ko-KR" dirty="0" err="1"/>
              <a:t>against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planner</a:t>
            </a:r>
            <a:r>
              <a:rPr lang="ko-KR" altLang="ko-KR" dirty="0"/>
              <a:t> </a:t>
            </a:r>
            <a:r>
              <a:rPr lang="ko-KR" altLang="ko-KR" dirty="0" err="1"/>
              <a:t>that</a:t>
            </a:r>
            <a:r>
              <a:rPr lang="ko-KR" altLang="ko-KR" dirty="0"/>
              <a:t> </a:t>
            </a:r>
            <a:r>
              <a:rPr lang="ko-KR" altLang="ko-KR" dirty="0" err="1"/>
              <a:t>applies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fixed</a:t>
            </a:r>
            <a:r>
              <a:rPr lang="ko-KR" altLang="ko-KR" dirty="0"/>
              <a:t> </a:t>
            </a:r>
            <a:r>
              <a:rPr lang="ko-KR" altLang="ko-KR" dirty="0" err="1"/>
              <a:t>normal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, and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planner</a:t>
            </a:r>
            <a:r>
              <a:rPr lang="ko-KR" altLang="ko-KR" dirty="0"/>
              <a:t> </a:t>
            </a:r>
            <a:r>
              <a:rPr lang="ko-KR" altLang="ko-KR" dirty="0" err="1"/>
              <a:t>that</a:t>
            </a:r>
            <a:r>
              <a:rPr lang="ko-KR" altLang="ko-KR" dirty="0"/>
              <a:t> </a:t>
            </a:r>
            <a:r>
              <a:rPr lang="ko-KR" altLang="ko-KR" dirty="0" err="1"/>
              <a:t>plans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base</a:t>
            </a:r>
            <a:r>
              <a:rPr lang="ko-KR" altLang="ko-KR" dirty="0"/>
              <a:t>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arms</a:t>
            </a:r>
            <a:r>
              <a:rPr lang="ko-KR" altLang="ko-KR" dirty="0"/>
              <a:t> </a:t>
            </a:r>
            <a:r>
              <a:rPr lang="ko-KR" altLang="ko-KR" dirty="0" err="1"/>
              <a:t>separately</a:t>
            </a:r>
            <a:r>
              <a:rPr lang="ko-KR" altLang="ko-KR" dirty="0"/>
              <a:t>.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r>
              <a:rPr lang="ko-KR" altLang="ko-KR" dirty="0"/>
              <a:t> </a:t>
            </a:r>
            <a:r>
              <a:rPr lang="ko-KR" altLang="ko-KR" dirty="0" err="1"/>
              <a:t>metrics</a:t>
            </a:r>
            <a:r>
              <a:rPr lang="ko-KR" altLang="ko-KR" dirty="0"/>
              <a:t>,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look</a:t>
            </a:r>
            <a:r>
              <a:rPr lang="ko-KR" altLang="ko-KR" dirty="0"/>
              <a:t> </a:t>
            </a:r>
            <a:r>
              <a:rPr lang="ko-KR" altLang="ko-KR" dirty="0" err="1"/>
              <a:t>at</a:t>
            </a:r>
            <a:r>
              <a:rPr lang="ko-KR" altLang="ko-KR" dirty="0"/>
              <a:t> </a:t>
            </a:r>
            <a:r>
              <a:rPr lang="ko-KR" altLang="ko-KR" dirty="0" err="1"/>
              <a:t>grasp</a:t>
            </a:r>
            <a:r>
              <a:rPr lang="ko-KR" altLang="ko-KR" dirty="0"/>
              <a:t> </a:t>
            </a:r>
            <a:r>
              <a:rPr lang="ko-KR" altLang="ko-KR" dirty="0" err="1"/>
              <a:t>success</a:t>
            </a:r>
            <a:r>
              <a:rPr lang="ko-KR" altLang="ko-KR" dirty="0"/>
              <a:t>, </a:t>
            </a:r>
            <a:r>
              <a:rPr lang="ko-KR" altLang="ko-KR" dirty="0" err="1"/>
              <a:t>slip</a:t>
            </a:r>
            <a:r>
              <a:rPr lang="ko-KR" altLang="ko-KR" dirty="0"/>
              <a:t> </a:t>
            </a:r>
            <a:r>
              <a:rPr lang="ko-KR" altLang="ko-KR" dirty="0" err="1"/>
              <a:t>rate</a:t>
            </a:r>
            <a:r>
              <a:rPr lang="ko-KR" altLang="ko-KR" dirty="0"/>
              <a:t> </a:t>
            </a:r>
            <a:r>
              <a:rPr lang="ko-KR" altLang="ko-KR" dirty="0" err="1"/>
              <a:t>versus</a:t>
            </a:r>
            <a:r>
              <a:rPr lang="ko-KR" altLang="ko-KR" dirty="0"/>
              <a:t> </a:t>
            </a:r>
            <a:r>
              <a:rPr lang="ko-KR" altLang="ko-KR" dirty="0" err="1"/>
              <a:t>acceleration</a:t>
            </a:r>
            <a:r>
              <a:rPr lang="ko-KR" altLang="ko-KR" dirty="0"/>
              <a:t>, </a:t>
            </a:r>
            <a:r>
              <a:rPr lang="ko-KR" altLang="ko-KR" dirty="0" err="1"/>
              <a:t>computation</a:t>
            </a:r>
            <a:r>
              <a:rPr lang="ko-KR" altLang="ko-KR" dirty="0"/>
              <a:t> </a:t>
            </a:r>
            <a:r>
              <a:rPr lang="ko-KR" altLang="ko-KR" dirty="0" err="1"/>
              <a:t>time</a:t>
            </a:r>
            <a:r>
              <a:rPr lang="ko-KR" altLang="ko-KR" dirty="0"/>
              <a:t>, and </a:t>
            </a:r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. The </a:t>
            </a:r>
            <a:r>
              <a:rPr lang="ko-KR" altLang="ko-KR" dirty="0" err="1"/>
              <a:t>timeline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shown</a:t>
            </a:r>
            <a:r>
              <a:rPr lang="ko-KR" altLang="ko-KR" dirty="0"/>
              <a:t> </a:t>
            </a:r>
            <a:r>
              <a:rPr lang="ko-KR" altLang="ko-KR" dirty="0" err="1"/>
              <a:t>below</a:t>
            </a:r>
            <a:r>
              <a:rPr lang="ko-KR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9D33-0B03-DA8E-03B4-6A1E3C7F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3E649-C098-5FD4-0C66-4E3951AB5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77E32-2891-EF73-7761-DF8DD317C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Thank</a:t>
            </a:r>
            <a:r>
              <a:rPr lang="ko-KR" altLang="ko-KR" dirty="0"/>
              <a:t> </a:t>
            </a:r>
            <a:r>
              <a:rPr lang="ko-KR" altLang="ko-KR" dirty="0" err="1"/>
              <a:t>you</a:t>
            </a:r>
            <a:r>
              <a:rPr lang="ko-KR" altLang="ko-KR" dirty="0"/>
              <a:t>, and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happy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take</a:t>
            </a:r>
            <a:r>
              <a:rPr lang="ko-KR" altLang="ko-KR" dirty="0"/>
              <a:t> </a:t>
            </a:r>
            <a:r>
              <a:rPr lang="ko-KR" altLang="ko-KR" dirty="0" err="1"/>
              <a:t>questions</a:t>
            </a:r>
            <a:r>
              <a:rPr lang="ko-KR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32788-41DB-E6D5-5FF6-275CCC2C5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21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plan only the base SE(3) trajectory and the arm joint references. A robust controller in the spirit of Lee 2025 handles thrust and tilt-rotor allocation, so contact force is never a direct decision variable. We use a smooth soft-contact model: the force is a smooth function of a virtual penetration, so we regulate it through the commanded end-effector pose. The mode schedule is prescribed. The key insight is that smoothing the contact makes the non-contact to contact transition differentiable, so a single whole-body NMPC handles all four phases without complementarity constraints or active-set switching.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box is held only by friction. During lift and acceleration the tangential force needed grows with the object mass times g plus a-z. So the squeeze force required to stay inside the friction cone scales with acceleration. Our policy raises the squeeze setpoint together with the commanded transport acceleration, with a safety margin. A fixed 5 N baseline is fine when slow, but past a critical acceleration the required force exceeds it and the box slips. This mirrors human motor control: people increase grip force together with manipulation force, while robots usually keep it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7695"/>
            <a:ext cx="8229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Keyframe-Guided Whole-Body Trajectory Optimization for </a:t>
            </a: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Dual-Arm Aerial Transport Through Narrow Gaps</a:t>
            </a:r>
          </a:p>
        </p:txBody>
      </p:sp>
      <p:sp>
        <p:nvSpPr>
          <p:cNvPr id="6" name="Text 4"/>
          <p:cNvSpPr/>
          <p:nvPr/>
        </p:nvSpPr>
        <p:spPr>
          <a:xfrm>
            <a:off x="112876" y="4846235"/>
            <a:ext cx="4641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 Motion Planning and Decision Making for Autonomous Systems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0" y="3783594"/>
            <a:ext cx="23808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Jaewoo Lee  (2025-25829)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Yongjun You  (2025-23893)</a:t>
            </a:r>
            <a:endParaRPr lang="en-US" sz="1600" dirty="0"/>
          </a:p>
        </p:txBody>
      </p:sp>
      <p:pic>
        <p:nvPicPr>
          <p:cNvPr id="9" name="Image 0" descr="/home/claude/proj/build/assets/cad_top.png">
            <a:extLst>
              <a:ext uri="{FF2B5EF4-FFF2-40B4-BE49-F238E27FC236}">
                <a16:creationId xmlns:a16="http://schemas.microsoft.com/office/drawing/2014/main" id="{9B9D6644-EE35-6C0B-AD1E-B4385DD83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047" y="1544830"/>
            <a:ext cx="4347905" cy="2347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ko-KR" alt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r>
              <a:rPr lang="ko-KR" alt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r>
              <a:rPr lang="ko-KR" alt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ko-KR" alt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r>
              <a:rPr lang="ko-KR" alt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dual-arm aerial manipulation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79" y="1225296"/>
            <a:ext cx="498009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manipulators extend the manipulation workspace into air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gripper only grasps small objects it can envelop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Dual-arm grasps large, flat objects by force closure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22677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box transport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578608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Known-size box; two target poses at opposite face centers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end-effectors squeeze the faces; the box is held by friction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Cycle: approach, grasp, lift and transport, place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pads: virtual penetration sets the contact force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169664"/>
            <a:ext cx="4526280" cy="603504"/>
          </a:xfrm>
          <a:prstGeom prst="rect">
            <a:avLst/>
          </a:prstGeom>
          <a:solidFill>
            <a:schemeClr val="bg1"/>
          </a:solidFill>
          <a:ln w="15875">
            <a:solidFill>
              <a:srgbClr val="D84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11480" y="4169664"/>
            <a:ext cx="82296" cy="603504"/>
          </a:xfrm>
          <a:prstGeom prst="rect">
            <a:avLst/>
          </a:prstGeom>
          <a:solidFill>
            <a:srgbClr val="D84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2648" y="4169664"/>
            <a:ext cx="4325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fixed squeeze force, the box can slip during fast transport.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Image 0" descr="/home/claude/proj/build/assets/cad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394" y="914400"/>
            <a:ext cx="2523107" cy="13622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25347" y="2651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OAM-4D: omnidirectional tilt-rotor base with two 4-DoF arms</a:t>
            </a:r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B74AD1-1FF6-4EC2-BD36-67E2B95D65C4}"/>
              </a:ext>
            </a:extLst>
          </p:cNvPr>
          <p:cNvSpPr txBox="1"/>
          <p:nvPr/>
        </p:nvSpPr>
        <p:spPr>
          <a:xfrm>
            <a:off x="7150361" y="3540018"/>
            <a:ext cx="508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300" b="1" dirty="0">
                <a:solidFill>
                  <a:srgbClr val="1A1A1A"/>
                </a:solidFill>
              </a:rPr>
              <a:t>box</a:t>
            </a:r>
            <a:endParaRPr lang="ko-KR" altLang="en-US" sz="1300" b="1" dirty="0">
              <a:solidFill>
                <a:srgbClr val="1A1A1A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E41747C-0F70-1CF7-B4AE-1D4E2B52A764}"/>
              </a:ext>
            </a:extLst>
          </p:cNvPr>
          <p:cNvGrpSpPr/>
          <p:nvPr/>
        </p:nvGrpSpPr>
        <p:grpSpPr>
          <a:xfrm>
            <a:off x="6167120" y="3826934"/>
            <a:ext cx="2494280" cy="1181100"/>
            <a:chOff x="5715000" y="3619500"/>
            <a:chExt cx="3200400" cy="1473200"/>
          </a:xfrm>
        </p:grpSpPr>
        <p:sp>
          <p:nvSpPr>
            <p:cNvPr id="14" name="diag_box">
              <a:extLst>
                <a:ext uri="{FF2B5EF4-FFF2-40B4-BE49-F238E27FC236}">
                  <a16:creationId xmlns:a16="http://schemas.microsoft.com/office/drawing/2014/main" id="{D2C5D1C0-B6C9-45EE-B611-C33A4ADF2F88}"/>
                </a:ext>
              </a:extLst>
            </p:cNvPr>
            <p:cNvSpPr/>
            <p:nvPr/>
          </p:nvSpPr>
          <p:spPr>
            <a:xfrm>
              <a:off x="6731000" y="3619500"/>
              <a:ext cx="1143000" cy="889000"/>
            </a:xfrm>
            <a:prstGeom prst="rect">
              <a:avLst/>
            </a:prstGeom>
            <a:solidFill>
              <a:srgbClr val="DCEBF7"/>
            </a:solidFill>
            <a:ln w="28575" cap="flat" cmpd="sng" algn="ctr">
              <a:solidFill>
                <a:srgbClr val="1F3A5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5" name="diag_gripL">
              <a:extLst>
                <a:ext uri="{FF2B5EF4-FFF2-40B4-BE49-F238E27FC236}">
                  <a16:creationId xmlns:a16="http://schemas.microsoft.com/office/drawing/2014/main" id="{E677455F-9512-4A5C-A06A-45B7D5A5605E}"/>
                </a:ext>
              </a:extLst>
            </p:cNvPr>
            <p:cNvSpPr/>
            <p:nvPr/>
          </p:nvSpPr>
          <p:spPr>
            <a:xfrm>
              <a:off x="6565900" y="3771900"/>
              <a:ext cx="152400" cy="584200"/>
            </a:xfrm>
            <a:prstGeom prst="roundRect">
              <a:avLst/>
            </a:prstGeom>
            <a:solidFill>
              <a:srgbClr val="6E7681"/>
            </a:solidFill>
            <a:ln w="12700" cap="flat" cmpd="sng" algn="ctr">
              <a:solidFill>
                <a:srgbClr val="1F3A5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6" name="diag_gripR">
              <a:extLst>
                <a:ext uri="{FF2B5EF4-FFF2-40B4-BE49-F238E27FC236}">
                  <a16:creationId xmlns:a16="http://schemas.microsoft.com/office/drawing/2014/main" id="{A3D37266-064D-418A-81E9-200395398025}"/>
                </a:ext>
              </a:extLst>
            </p:cNvPr>
            <p:cNvSpPr/>
            <p:nvPr/>
          </p:nvSpPr>
          <p:spPr>
            <a:xfrm>
              <a:off x="7886700" y="3771900"/>
              <a:ext cx="152400" cy="584200"/>
            </a:xfrm>
            <a:prstGeom prst="roundRect">
              <a:avLst/>
            </a:prstGeom>
            <a:solidFill>
              <a:srgbClr val="6E7681"/>
            </a:solidFill>
            <a:ln w="12700" cap="flat" cmpd="sng" algn="ctr">
              <a:solidFill>
                <a:srgbClr val="1F3A5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9" name="diag_fnL">
              <a:extLst>
                <a:ext uri="{FF2B5EF4-FFF2-40B4-BE49-F238E27FC236}">
                  <a16:creationId xmlns:a16="http://schemas.microsoft.com/office/drawing/2014/main" id="{F8722931-5A54-4C98-BAB2-CBC4BDC9EF97}"/>
                </a:ext>
              </a:extLst>
            </p:cNvPr>
            <p:cNvSpPr/>
            <p:nvPr/>
          </p:nvSpPr>
          <p:spPr>
            <a:xfrm>
              <a:off x="6096000" y="3962400"/>
              <a:ext cx="457200" cy="203200"/>
            </a:xfrm>
            <a:prstGeom prst="rightArrow">
              <a:avLst/>
            </a:prstGeom>
            <a:solidFill>
              <a:srgbClr val="2E5FE8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0" name="diag_fnR">
              <a:extLst>
                <a:ext uri="{FF2B5EF4-FFF2-40B4-BE49-F238E27FC236}">
                  <a16:creationId xmlns:a16="http://schemas.microsoft.com/office/drawing/2014/main" id="{0BC418B0-1CBC-45A7-8D4C-33621794D247}"/>
                </a:ext>
              </a:extLst>
            </p:cNvPr>
            <p:cNvSpPr/>
            <p:nvPr/>
          </p:nvSpPr>
          <p:spPr>
            <a:xfrm>
              <a:off x="8051800" y="3962400"/>
              <a:ext cx="457200" cy="203200"/>
            </a:xfrm>
            <a:prstGeom prst="leftArrow">
              <a:avLst/>
            </a:prstGeom>
            <a:solidFill>
              <a:srgbClr val="2E5FE8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1" name="diag_grav">
              <a:extLst>
                <a:ext uri="{FF2B5EF4-FFF2-40B4-BE49-F238E27FC236}">
                  <a16:creationId xmlns:a16="http://schemas.microsoft.com/office/drawing/2014/main" id="{4FFF9C92-6CBD-4D88-841C-252ED0F9EDF0}"/>
                </a:ext>
              </a:extLst>
            </p:cNvPr>
            <p:cNvSpPr/>
            <p:nvPr/>
          </p:nvSpPr>
          <p:spPr>
            <a:xfrm>
              <a:off x="7226300" y="4559300"/>
              <a:ext cx="152400" cy="508000"/>
            </a:xfrm>
            <a:prstGeom prst="downArrow">
              <a:avLst/>
            </a:prstGeom>
            <a:solidFill>
              <a:srgbClr val="1A1A1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4CD12AC-5AD1-48C7-88D7-7831AEC2A0CC}"/>
                </a:ext>
              </a:extLst>
            </p:cNvPr>
            <p:cNvSpPr txBox="1"/>
            <p:nvPr/>
          </p:nvSpPr>
          <p:spPr>
            <a:xfrm>
              <a:off x="7124441" y="3934460"/>
              <a:ext cx="558800" cy="2794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ko-KR" sz="1300" i="1" dirty="0">
                  <a:solidFill>
                    <a:srgbClr val="1A1A1A"/>
                  </a:solidFill>
                </a:rPr>
                <a:t>•mₒ</a:t>
              </a:r>
              <a:endParaRPr lang="ko-KR" altLang="en-US" sz="1300" i="1" dirty="0">
                <a:solidFill>
                  <a:srgbClr val="1A1A1A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F62B30-15AF-4008-BBA5-D14B66A9F8ED}"/>
                </a:ext>
              </a:extLst>
            </p:cNvPr>
            <p:cNvSpPr txBox="1"/>
            <p:nvPr/>
          </p:nvSpPr>
          <p:spPr>
            <a:xfrm>
              <a:off x="5715000" y="3911600"/>
              <a:ext cx="355600" cy="2794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ko-KR" sz="1400" i="1">
                  <a:solidFill>
                    <a:srgbClr val="2E5FE8"/>
                  </a:solidFill>
                </a:rPr>
                <a:t>Fₙ</a:t>
              </a:r>
              <a:endParaRPr lang="ko-KR" altLang="en-US" sz="1400" i="1">
                <a:solidFill>
                  <a:srgbClr val="2E5FE8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FCEAE29-FEF2-4652-B097-7AC358AA2F31}"/>
                </a:ext>
              </a:extLst>
            </p:cNvPr>
            <p:cNvSpPr txBox="1"/>
            <p:nvPr/>
          </p:nvSpPr>
          <p:spPr>
            <a:xfrm>
              <a:off x="8559800" y="3911600"/>
              <a:ext cx="355600" cy="2794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ko-KR" sz="1400" i="1">
                  <a:solidFill>
                    <a:srgbClr val="2E5FE8"/>
                  </a:solidFill>
                </a:rPr>
                <a:t>Fₙ</a:t>
              </a:r>
              <a:endParaRPr lang="ko-KR" altLang="en-US" sz="1400" i="1">
                <a:solidFill>
                  <a:srgbClr val="2E5FE8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300756-CD86-4ECF-A32B-39751AE68606}"/>
                </a:ext>
              </a:extLst>
            </p:cNvPr>
            <p:cNvSpPr txBox="1"/>
            <p:nvPr/>
          </p:nvSpPr>
          <p:spPr>
            <a:xfrm>
              <a:off x="7378700" y="4813300"/>
              <a:ext cx="830570" cy="2794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ko-KR" sz="1400" i="1" dirty="0">
                  <a:solidFill>
                    <a:srgbClr val="1A1A1A"/>
                  </a:solidFill>
                </a:rPr>
                <a:t>gravity</a:t>
              </a:r>
              <a:endParaRPr lang="ko-KR" altLang="en-US" sz="1400" i="1" dirty="0">
                <a:solidFill>
                  <a:srgbClr val="1A1A1A"/>
                </a:solidFill>
              </a:endParaRPr>
            </a:p>
          </p:txBody>
        </p:sp>
      </p:grpSp>
      <p:sp>
        <p:nvSpPr>
          <p:cNvPr id="27" name="diag_caption">
            <a:extLst>
              <a:ext uri="{FF2B5EF4-FFF2-40B4-BE49-F238E27FC236}">
                <a16:creationId xmlns:a16="http://schemas.microsoft.com/office/drawing/2014/main" id="{B771B4E9-DE49-483F-B704-95BB27B72509}"/>
              </a:ext>
            </a:extLst>
          </p:cNvPr>
          <p:cNvSpPr/>
          <p:nvPr/>
        </p:nvSpPr>
        <p:spPr>
          <a:xfrm>
            <a:off x="6280573" y="3126740"/>
            <a:ext cx="2043853" cy="32512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E5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dirty="0">
                <a:solidFill>
                  <a:srgbClr val="1A1A1A"/>
                </a:solidFill>
              </a:rPr>
              <a:t>held by friction:  |Fₜ| ≤ </a:t>
            </a:r>
            <a:r>
              <a:rPr lang="en-US" altLang="ko-KR" sz="1300" dirty="0" err="1">
                <a:solidFill>
                  <a:srgbClr val="1A1A1A"/>
                </a:solidFill>
              </a:rPr>
              <a:t>μF</a:t>
            </a:r>
            <a:r>
              <a:rPr lang="en-US" altLang="ko-KR" sz="1300" dirty="0">
                <a:solidFill>
                  <a:srgbClr val="1A1A1A"/>
                </a:solidFill>
              </a:rPr>
              <a:t>ₙ</a:t>
            </a:r>
            <a:endParaRPr lang="ko-KR" altLang="en-US" sz="13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Oour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Idea: A Single Keyframe as the Seed</a:t>
            </a:r>
            <a:endParaRPr lang="en-US" sz="25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1F6E51E-2C4A-4B49-BCBA-C205838B1CC4}"/>
              </a:ext>
            </a:extLst>
          </p:cNvPr>
          <p:cNvSpPr/>
          <p:nvPr/>
        </p:nvSpPr>
        <p:spPr>
          <a:xfrm>
            <a:off x="1948070" y="978631"/>
            <a:ext cx="2726192" cy="431800"/>
          </a:xfrm>
          <a:prstGeom prst="roundRect">
            <a:avLst/>
          </a:prstGeom>
          <a:solidFill>
            <a:srgbClr val="E3F0EE"/>
          </a:solidFill>
          <a:ln w="12700" cap="flat" cmpd="sng" algn="ctr">
            <a:solidFill>
              <a:srgbClr val="9CC4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A7A7A"/>
                </a:solidFill>
              </a:rPr>
              <a:t>Single-arm / single End Effector</a:t>
            </a:r>
            <a:endParaRPr lang="ko-KR" altLang="en-US" sz="1000" b="1" dirty="0">
              <a:solidFill>
                <a:srgbClr val="1A7A7A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1F16455-FD0C-4A92-AAE0-C511F9AE653F}"/>
              </a:ext>
            </a:extLst>
          </p:cNvPr>
          <p:cNvSpPr/>
          <p:nvPr/>
        </p:nvSpPr>
        <p:spPr>
          <a:xfrm>
            <a:off x="4725062" y="978631"/>
            <a:ext cx="3039386" cy="431800"/>
          </a:xfrm>
          <a:prstGeom prst="roundRect">
            <a:avLst/>
          </a:prstGeom>
          <a:solidFill>
            <a:srgbClr val="E3F0EE"/>
          </a:solidFill>
          <a:ln w="12700" cap="flat" cmpd="sng" algn="ctr">
            <a:solidFill>
              <a:srgbClr val="9CC4B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A7A7A"/>
                </a:solidFill>
              </a:rPr>
              <a:t>Coordinated · dual-arm / multi-contact</a:t>
            </a:r>
            <a:endParaRPr lang="ko-KR" altLang="en-US" sz="1000" b="1" dirty="0">
              <a:solidFill>
                <a:srgbClr val="1A7A7A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B04905-39D3-495E-8672-7DA82C1592CE}"/>
              </a:ext>
            </a:extLst>
          </p:cNvPr>
          <p:cNvSpPr txBox="1"/>
          <p:nvPr/>
        </p:nvSpPr>
        <p:spPr>
          <a:xfrm>
            <a:off x="943333" y="2062849"/>
            <a:ext cx="678732" cy="43088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 dirty="0">
                <a:solidFill>
                  <a:srgbClr val="1A7A7A"/>
                </a:solidFill>
              </a:rPr>
              <a:t>Floating
(aerial)</a:t>
            </a:r>
            <a:endParaRPr lang="ko-KR" altLang="en-US" sz="1100" b="1" dirty="0">
              <a:solidFill>
                <a:srgbClr val="1A7A7A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E33A83-B0D1-4BA2-BD44-82BBFD8F3CEB}"/>
              </a:ext>
            </a:extLst>
          </p:cNvPr>
          <p:cNvSpPr txBox="1"/>
          <p:nvPr/>
        </p:nvSpPr>
        <p:spPr>
          <a:xfrm>
            <a:off x="943333" y="3721831"/>
            <a:ext cx="812800" cy="43088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altLang="ko-KR" sz="1100" b="1" dirty="0">
                <a:solidFill>
                  <a:srgbClr val="1A7A7A"/>
                </a:solidFill>
              </a:rPr>
              <a:t>Fixed
(grounded)</a:t>
            </a:r>
            <a:endParaRPr lang="ko-KR" altLang="en-US" sz="1100" b="1" dirty="0">
              <a:solidFill>
                <a:srgbClr val="1A7A7A"/>
              </a:solidFill>
            </a:endParaRPr>
          </a:p>
        </p:txBody>
      </p:sp>
      <p:sp>
        <p:nvSpPr>
          <p:cNvPr id="52" name="rw_c_tl">
            <a:extLst>
              <a:ext uri="{FF2B5EF4-FFF2-40B4-BE49-F238E27FC236}">
                <a16:creationId xmlns:a16="http://schemas.microsoft.com/office/drawing/2014/main" id="{D34F94C9-E39B-4E97-963F-C074BC613599}"/>
              </a:ext>
            </a:extLst>
          </p:cNvPr>
          <p:cNvSpPr/>
          <p:nvPr/>
        </p:nvSpPr>
        <p:spPr>
          <a:xfrm>
            <a:off x="1948070" y="1461231"/>
            <a:ext cx="2726192" cy="1879600"/>
          </a:xfrm>
          <a:prstGeom prst="rect">
            <a:avLst/>
          </a:prstGeom>
          <a:solidFill>
            <a:srgbClr val="EEF1F5"/>
          </a:solidFill>
          <a:ln w="12700" cap="flat" cmpd="sng" algn="ctr">
            <a:solidFill>
              <a:srgbClr val="C9D2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4D"/>
                </a:solidFill>
              </a:rPr>
              <a:t>Lee '25 · Deng '25 · Peric '21 · </a:t>
            </a:r>
            <a:r>
              <a:rPr lang="en-US" sz="1100" b="1" dirty="0" err="1">
                <a:solidFill>
                  <a:srgbClr val="1F3A4D"/>
                </a:solidFill>
              </a:rPr>
              <a:t>Alharbat</a:t>
            </a:r>
            <a:r>
              <a:rPr lang="en-US" sz="1100" b="1" dirty="0">
                <a:solidFill>
                  <a:srgbClr val="1F3A4D"/>
                </a:solidFill>
              </a:rPr>
              <a:t> ‘25</a:t>
            </a:r>
          </a:p>
          <a:p>
            <a:pPr algn="l">
              <a:buNone/>
            </a:pPr>
            <a:endParaRPr lang="en-US" sz="1000" dirty="0">
              <a:solidFill>
                <a:srgbClr val="3A4350"/>
              </a:solidFill>
            </a:endParaRPr>
          </a:p>
          <a:p>
            <a:pPr algn="l">
              <a:buNone/>
            </a:pPr>
            <a:r>
              <a:rPr lang="en-US" sz="1000" dirty="0">
                <a:solidFill>
                  <a:srgbClr val="3A4350"/>
                </a:solidFill>
              </a:rPr>
              <a:t>Aerial physical interaction with one end-effector: </a:t>
            </a:r>
          </a:p>
          <a:p>
            <a:pPr algn="l">
              <a:buNone/>
            </a:pPr>
            <a:r>
              <a:rPr lang="en-US" sz="1000" dirty="0">
                <a:solidFill>
                  <a:srgbClr val="3A4350"/>
                </a:solidFill>
              </a:rPr>
              <a:t>grasp-pull, push-slide, admittance / impedance. </a:t>
            </a:r>
          </a:p>
          <a:p>
            <a:pPr algn="l">
              <a:buNone/>
            </a:pPr>
            <a:endParaRPr lang="en-US" sz="1000" dirty="0">
              <a:solidFill>
                <a:srgbClr val="3A4350"/>
              </a:solidFill>
            </a:endParaRPr>
          </a:p>
          <a:p>
            <a:pPr algn="l">
              <a:buNone/>
            </a:pPr>
            <a:r>
              <a:rPr lang="en-US" sz="1000" dirty="0">
                <a:solidFill>
                  <a:srgbClr val="3A4350"/>
                </a:solidFill>
              </a:rPr>
              <a:t>Floating-base coupling solved, but no arm coordination.</a:t>
            </a:r>
          </a:p>
        </p:txBody>
      </p:sp>
      <p:sp>
        <p:nvSpPr>
          <p:cNvPr id="53" name="rw_c_tr">
            <a:extLst>
              <a:ext uri="{FF2B5EF4-FFF2-40B4-BE49-F238E27FC236}">
                <a16:creationId xmlns:a16="http://schemas.microsoft.com/office/drawing/2014/main" id="{BB303FDD-E733-452B-B1E2-FFD6FFF6B734}"/>
              </a:ext>
            </a:extLst>
          </p:cNvPr>
          <p:cNvSpPr/>
          <p:nvPr/>
        </p:nvSpPr>
        <p:spPr>
          <a:xfrm>
            <a:off x="4725062" y="1461231"/>
            <a:ext cx="3039386" cy="1879600"/>
          </a:xfrm>
          <a:prstGeom prst="rect">
            <a:avLst/>
          </a:prstGeom>
          <a:solidFill>
            <a:srgbClr val="FCEBD8"/>
          </a:solidFill>
          <a:ln w="31750" cap="flat" cmpd="sng" algn="ctr">
            <a:solidFill>
              <a:srgbClr val="E07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F3A4D"/>
                </a:solidFill>
              </a:rPr>
              <a:t>Martijn '26 (</a:t>
            </a:r>
            <a:r>
              <a:rPr lang="en-US" altLang="ko-KR" sz="1100" b="1" dirty="0">
                <a:solidFill>
                  <a:srgbClr val="1F3A4D"/>
                </a:solidFill>
              </a:rPr>
              <a:t>Omni dual-arm </a:t>
            </a:r>
            <a:r>
              <a:rPr lang="en-US" sz="1100" b="1" dirty="0">
                <a:solidFill>
                  <a:srgbClr val="1F3A4D"/>
                </a:solidFill>
              </a:rPr>
              <a:t>platform)</a:t>
            </a:r>
          </a:p>
          <a:p>
            <a:pPr algn="l">
              <a:spcAft>
                <a:spcPts val="500"/>
              </a:spcAft>
              <a:buNone/>
            </a:pPr>
            <a:endParaRPr lang="en-US" sz="1000" dirty="0">
              <a:solidFill>
                <a:srgbClr val="3A4350"/>
              </a:solidFill>
            </a:endParaRPr>
          </a:p>
          <a:p>
            <a:pPr algn="l">
              <a:spcAft>
                <a:spcPts val="500"/>
              </a:spcAft>
              <a:buNone/>
            </a:pPr>
            <a:r>
              <a:rPr lang="en-US" sz="1000" dirty="0">
                <a:solidFill>
                  <a:srgbClr val="3A4350"/>
                </a:solidFill>
              </a:rPr>
              <a:t>Platform and roof-landing demonstrated; coordinated, force-aware planning still open.</a:t>
            </a:r>
          </a:p>
          <a:p>
            <a:pPr algn="l">
              <a:spcAft>
                <a:spcPts val="500"/>
              </a:spcAft>
              <a:buNone/>
            </a:pPr>
            <a:endParaRPr lang="en-US" sz="1000" dirty="0">
              <a:solidFill>
                <a:srgbClr val="3A4350"/>
              </a:solidFill>
            </a:endParaRPr>
          </a:p>
          <a:p>
            <a:pPr algn="l">
              <a:buNone/>
            </a:pPr>
            <a:r>
              <a:rPr lang="en-US" sz="1000" b="1" dirty="0">
                <a:solidFill>
                  <a:srgbClr val="C8631A"/>
                </a:solidFill>
              </a:rPr>
              <a:t>Ours: </a:t>
            </a:r>
          </a:p>
          <a:p>
            <a:pPr algn="l">
              <a:buNone/>
            </a:pPr>
            <a:r>
              <a:rPr lang="en-US" sz="1000" b="1" dirty="0">
                <a:solidFill>
                  <a:srgbClr val="C8631A"/>
                </a:solidFill>
              </a:rPr>
              <a:t>dual-arm whole-body contact-aware planning with slip-aware force regulation.</a:t>
            </a:r>
          </a:p>
        </p:txBody>
      </p:sp>
      <p:sp>
        <p:nvSpPr>
          <p:cNvPr id="54" name="rw_c_bl">
            <a:extLst>
              <a:ext uri="{FF2B5EF4-FFF2-40B4-BE49-F238E27FC236}">
                <a16:creationId xmlns:a16="http://schemas.microsoft.com/office/drawing/2014/main" id="{C1254203-6F57-4FC2-BB54-7074D7E25DB7}"/>
              </a:ext>
            </a:extLst>
          </p:cNvPr>
          <p:cNvSpPr/>
          <p:nvPr/>
        </p:nvSpPr>
        <p:spPr>
          <a:xfrm>
            <a:off x="1948070" y="3417031"/>
            <a:ext cx="2726192" cy="1117600"/>
          </a:xfrm>
          <a:prstGeom prst="rect">
            <a:avLst/>
          </a:prstGeom>
          <a:solidFill>
            <a:srgbClr val="EEF1F5"/>
          </a:solidFill>
          <a:ln w="12700" cap="flat" cmpd="sng" algn="ctr">
            <a:solidFill>
              <a:srgbClr val="C9D2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3A0"/>
                </a:solidFill>
              </a:rPr>
              <a:t>Classical single-arm manipulation</a:t>
            </a:r>
          </a:p>
          <a:p>
            <a:pPr algn="l">
              <a:buNone/>
            </a:pPr>
            <a:endParaRPr lang="en-US" sz="1000" i="1" dirty="0">
              <a:solidFill>
                <a:srgbClr val="8A93A0"/>
              </a:solidFill>
            </a:endParaRPr>
          </a:p>
          <a:p>
            <a:pPr algn="l">
              <a:buNone/>
            </a:pPr>
            <a:r>
              <a:rPr lang="en-US" sz="1000" i="1" dirty="0">
                <a:solidFill>
                  <a:srgbClr val="8A93A0"/>
                </a:solidFill>
              </a:rPr>
              <a:t>Out of scope for this project.</a:t>
            </a:r>
          </a:p>
        </p:txBody>
      </p:sp>
      <p:sp>
        <p:nvSpPr>
          <p:cNvPr id="55" name="rw_c_br">
            <a:extLst>
              <a:ext uri="{FF2B5EF4-FFF2-40B4-BE49-F238E27FC236}">
                <a16:creationId xmlns:a16="http://schemas.microsoft.com/office/drawing/2014/main" id="{D9F7CC31-84D3-4098-89D1-09C086A35A2B}"/>
              </a:ext>
            </a:extLst>
          </p:cNvPr>
          <p:cNvSpPr/>
          <p:nvPr/>
        </p:nvSpPr>
        <p:spPr>
          <a:xfrm>
            <a:off x="4725061" y="3417031"/>
            <a:ext cx="3039387" cy="1117600"/>
          </a:xfrm>
          <a:prstGeom prst="rect">
            <a:avLst/>
          </a:prstGeom>
          <a:solidFill>
            <a:srgbClr val="EEF1F5"/>
          </a:solidFill>
          <a:ln w="12700" cap="flat" cmpd="sng" algn="ctr">
            <a:solidFill>
              <a:srgbClr val="C9D2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4D"/>
                </a:solidFill>
              </a:rPr>
              <a:t>Adorno '10 · Dehio '22 · Kurtz/IDTO '26 · Kim ‘25</a:t>
            </a:r>
          </a:p>
          <a:p>
            <a:pPr algn="l">
              <a:buNone/>
            </a:pPr>
            <a:endParaRPr lang="en-US" sz="1000" dirty="0">
              <a:solidFill>
                <a:srgbClr val="3A4350"/>
              </a:solidFill>
            </a:endParaRPr>
          </a:p>
          <a:p>
            <a:pPr algn="l">
              <a:buNone/>
            </a:pPr>
            <a:r>
              <a:rPr lang="en-US" sz="1000" dirty="0">
                <a:solidFill>
                  <a:srgbClr val="3A4350"/>
                </a:solidFill>
              </a:rPr>
              <a:t>Cooperative / dual-arm on a grounded base: squeezing, contact-implicit MPC, force-closure grasp. </a:t>
            </a:r>
          </a:p>
          <a:p>
            <a:pPr algn="l">
              <a:buNone/>
            </a:pPr>
            <a:endParaRPr lang="en-US" sz="1000" dirty="0">
              <a:solidFill>
                <a:srgbClr val="3A4350"/>
              </a:solidFill>
            </a:endParaRPr>
          </a:p>
          <a:p>
            <a:pPr algn="l">
              <a:buNone/>
            </a:pPr>
            <a:r>
              <a:rPr lang="en-US" sz="1000" dirty="0">
                <a:solidFill>
                  <a:srgbClr val="3A4350"/>
                </a:solidFill>
              </a:rPr>
              <a:t>Gravity is the main external load.</a:t>
            </a:r>
          </a:p>
        </p:txBody>
      </p:sp>
      <p:sp>
        <p:nvSpPr>
          <p:cNvPr id="7" name="rw_reflabel">
            <a:extLst>
              <a:ext uri="{FF2B5EF4-FFF2-40B4-BE49-F238E27FC236}">
                <a16:creationId xmlns:a16="http://schemas.microsoft.com/office/drawing/2014/main" id="{24346A33-0C2C-4D20-A4CC-79AAB9CB10D8}"/>
              </a:ext>
            </a:extLst>
          </p:cNvPr>
          <p:cNvSpPr txBox="1"/>
          <p:nvPr/>
        </p:nvSpPr>
        <p:spPr>
          <a:xfrm>
            <a:off x="235668" y="4673600"/>
            <a:ext cx="2540000" cy="21544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altLang="ko-KR" sz="800" b="1" dirty="0">
                <a:solidFill>
                  <a:schemeClr val="bg2">
                    <a:lumMod val="25000"/>
                  </a:schemeClr>
                </a:solidFill>
              </a:rPr>
              <a:t>References</a:t>
            </a:r>
            <a:endParaRPr lang="ko-KR" altLang="en-US" sz="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w_refs">
            <a:extLst>
              <a:ext uri="{FF2B5EF4-FFF2-40B4-BE49-F238E27FC236}">
                <a16:creationId xmlns:a16="http://schemas.microsoft.com/office/drawing/2014/main" id="{0C7CC9B9-0072-4CEE-8C21-6D4E5F55707B}"/>
              </a:ext>
            </a:extLst>
          </p:cNvPr>
          <p:cNvSpPr txBox="1"/>
          <p:nvPr/>
        </p:nvSpPr>
        <p:spPr>
          <a:xfrm>
            <a:off x="235668" y="4826000"/>
            <a:ext cx="8534400" cy="32316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da-DK" altLang="ko-KR" sz="750" dirty="0">
                <a:solidFill>
                  <a:schemeClr val="bg2">
                    <a:lumMod val="25000"/>
                  </a:schemeClr>
                </a:solidFill>
              </a:rPr>
              <a:t>[1] Lee et al., IJRR 2025   [2] Deng et al., T-RO 2025   [3] Peric et al., ICRA 2021   [4] Alharbat et al., RA-L 2025   [5] Adorno et al., IROS 2010   [6] Dehio et al., RA-L 2022   [7] Kurtz et al. (IDTO), IJRR 2026   [8] Kim et al., 2025   [9] Martijn, 2026</a:t>
            </a:r>
            <a:endParaRPr lang="ko-KR" altLang="en-US" sz="75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45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07B7-CA01-B4CE-35FF-4549C51E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73D61F-EFE0-8158-95DC-ACFBA84125F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377F3D-2C78-3B44-7AB4-343C9836B121}"/>
              </a:ext>
            </a:extLst>
          </p:cNvPr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Better, Safer Passage </a:t>
            </a:r>
            <a:endParaRPr lang="en-US" sz="2500" dirty="0"/>
          </a:p>
        </p:txBody>
      </p:sp>
      <p:sp>
        <p:nvSpPr>
          <p:cNvPr id="18" name="fc_m1">
            <a:extLst>
              <a:ext uri="{FF2B5EF4-FFF2-40B4-BE49-F238E27FC236}">
                <a16:creationId xmlns:a16="http://schemas.microsoft.com/office/drawing/2014/main" id="{9A44814F-9867-4EA2-93E4-A462DA862124}"/>
              </a:ext>
            </a:extLst>
          </p:cNvPr>
          <p:cNvSpPr/>
          <p:nvPr/>
        </p:nvSpPr>
        <p:spPr>
          <a:xfrm>
            <a:off x="268965" y="1259840"/>
            <a:ext cx="1489985" cy="518160"/>
          </a:xfrm>
          <a:prstGeom prst="roundRect">
            <a:avLst/>
          </a:prstGeom>
          <a:solidFill>
            <a:srgbClr val="E4F2EC"/>
          </a:solidFill>
          <a:ln w="15875" cap="flat" cmpd="sng" algn="ctr">
            <a:solidFill>
              <a:srgbClr val="5FA9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E6B4F"/>
                </a:solidFill>
              </a:rPr>
              <a:t>Whole-body model</a:t>
            </a:r>
          </a:p>
          <a:p>
            <a:pPr algn="ctr"/>
            <a:r>
              <a:rPr lang="en-US" sz="1000" dirty="0">
                <a:solidFill>
                  <a:srgbClr val="1E6B4F"/>
                </a:solidFill>
              </a:rPr>
              <a:t>Pinocchio + CasADi</a:t>
            </a:r>
          </a:p>
        </p:txBody>
      </p:sp>
      <p:sp>
        <p:nvSpPr>
          <p:cNvPr id="19" name="fc_m2">
            <a:extLst>
              <a:ext uri="{FF2B5EF4-FFF2-40B4-BE49-F238E27FC236}">
                <a16:creationId xmlns:a16="http://schemas.microsoft.com/office/drawing/2014/main" id="{0EF8A783-D4AB-4DBA-B34E-40C11A2B0F0D}"/>
              </a:ext>
            </a:extLst>
          </p:cNvPr>
          <p:cNvSpPr/>
          <p:nvPr/>
        </p:nvSpPr>
        <p:spPr>
          <a:xfrm>
            <a:off x="2139949" y="1259840"/>
            <a:ext cx="1541008" cy="518160"/>
          </a:xfrm>
          <a:prstGeom prst="roundRect">
            <a:avLst/>
          </a:prstGeom>
          <a:solidFill>
            <a:srgbClr val="E4F2EC"/>
          </a:solidFill>
          <a:ln w="15875" cap="flat" cmpd="sng" algn="ctr">
            <a:solidFill>
              <a:srgbClr val="5FA9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E6B4F"/>
                </a:solidFill>
              </a:rPr>
              <a:t>Smooth contact</a:t>
            </a:r>
          </a:p>
          <a:p>
            <a:pPr algn="ctr"/>
            <a:r>
              <a:rPr lang="en-US" sz="1000" dirty="0">
                <a:solidFill>
                  <a:srgbClr val="1E6B4F"/>
                </a:solidFill>
              </a:rPr>
              <a:t>force from penetration</a:t>
            </a:r>
          </a:p>
        </p:txBody>
      </p:sp>
      <p:sp>
        <p:nvSpPr>
          <p:cNvPr id="20" name="fc_m3">
            <a:extLst>
              <a:ext uri="{FF2B5EF4-FFF2-40B4-BE49-F238E27FC236}">
                <a16:creationId xmlns:a16="http://schemas.microsoft.com/office/drawing/2014/main" id="{0CF4FBA6-9DF2-404B-869B-9A16AAF90854}"/>
              </a:ext>
            </a:extLst>
          </p:cNvPr>
          <p:cNvSpPr/>
          <p:nvPr/>
        </p:nvSpPr>
        <p:spPr>
          <a:xfrm>
            <a:off x="4061956" y="1259840"/>
            <a:ext cx="1242171" cy="518160"/>
          </a:xfrm>
          <a:prstGeom prst="roundRect">
            <a:avLst/>
          </a:prstGeom>
          <a:solidFill>
            <a:srgbClr val="E4F2EC"/>
          </a:solidFill>
          <a:ln w="15875" cap="flat" cmpd="sng" algn="ctr">
            <a:solidFill>
              <a:srgbClr val="5FA9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E6B4F"/>
                </a:solidFill>
              </a:rPr>
              <a:t>Box + friction</a:t>
            </a:r>
          </a:p>
          <a:p>
            <a:pPr algn="ctr"/>
            <a:r>
              <a:rPr lang="en-US" sz="1000" dirty="0">
                <a:solidFill>
                  <a:srgbClr val="1E6B4F"/>
                </a:solidFill>
              </a:rPr>
              <a:t>free body + cone</a:t>
            </a:r>
          </a:p>
        </p:txBody>
      </p:sp>
      <p:sp>
        <p:nvSpPr>
          <p:cNvPr id="22" name="fc_m4">
            <a:extLst>
              <a:ext uri="{FF2B5EF4-FFF2-40B4-BE49-F238E27FC236}">
                <a16:creationId xmlns:a16="http://schemas.microsoft.com/office/drawing/2014/main" id="{BF4F6258-E74C-4CC0-9273-8FCCF8FAFF5B}"/>
              </a:ext>
            </a:extLst>
          </p:cNvPr>
          <p:cNvSpPr/>
          <p:nvPr/>
        </p:nvSpPr>
        <p:spPr>
          <a:xfrm>
            <a:off x="1931503" y="2260600"/>
            <a:ext cx="1962313" cy="518159"/>
          </a:xfrm>
          <a:prstGeom prst="roundRect">
            <a:avLst/>
          </a:prstGeom>
          <a:solidFill>
            <a:srgbClr val="E6E3F5"/>
          </a:solidFill>
          <a:ln w="15875" cap="flat" cmpd="sng" algn="ctr">
            <a:solidFill>
              <a:srgbClr val="857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4B3F9E"/>
                </a:solidFill>
              </a:rPr>
              <a:t>Multi-phase OCP Planner</a:t>
            </a:r>
          </a:p>
          <a:p>
            <a:pPr algn="ctr"/>
            <a:r>
              <a:rPr lang="en-US" sz="1000" dirty="0">
                <a:solidFill>
                  <a:srgbClr val="4B3F9E"/>
                </a:solidFill>
              </a:rPr>
              <a:t>CasADi NLP, IPOPT</a:t>
            </a:r>
          </a:p>
        </p:txBody>
      </p:sp>
      <p:sp>
        <p:nvSpPr>
          <p:cNvPr id="23" name="fc_m5">
            <a:extLst>
              <a:ext uri="{FF2B5EF4-FFF2-40B4-BE49-F238E27FC236}">
                <a16:creationId xmlns:a16="http://schemas.microsoft.com/office/drawing/2014/main" id="{CC7E7777-F5DE-4B88-9721-59BB612B84EC}"/>
              </a:ext>
            </a:extLst>
          </p:cNvPr>
          <p:cNvSpPr/>
          <p:nvPr/>
        </p:nvSpPr>
        <p:spPr>
          <a:xfrm>
            <a:off x="397978" y="2169852"/>
            <a:ext cx="1144104" cy="713049"/>
          </a:xfrm>
          <a:prstGeom prst="roundRect">
            <a:avLst/>
          </a:prstGeom>
          <a:solidFill>
            <a:srgbClr val="FBE9DD"/>
          </a:solidFill>
          <a:ln w="15875" cap="flat" cmpd="sng" algn="ctr">
            <a:solidFill>
              <a:srgbClr val="D98E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A85A2A"/>
                </a:solidFill>
              </a:rPr>
              <a:t>Slip-aware</a:t>
            </a:r>
          </a:p>
          <a:p>
            <a:pPr algn="ctr"/>
            <a:r>
              <a:rPr lang="en-US" sz="1000" dirty="0">
                <a:solidFill>
                  <a:srgbClr val="A85A2A"/>
                </a:solidFill>
              </a:rPr>
              <a:t>Normal Force rises with acc.</a:t>
            </a:r>
          </a:p>
        </p:txBody>
      </p:sp>
      <p:sp>
        <p:nvSpPr>
          <p:cNvPr id="24" name="fc_ref">
            <a:extLst>
              <a:ext uri="{FF2B5EF4-FFF2-40B4-BE49-F238E27FC236}">
                <a16:creationId xmlns:a16="http://schemas.microsoft.com/office/drawing/2014/main" id="{4A33EF1B-732E-45A2-8C74-AAC31E9B694B}"/>
              </a:ext>
            </a:extLst>
          </p:cNvPr>
          <p:cNvSpPr/>
          <p:nvPr/>
        </p:nvSpPr>
        <p:spPr>
          <a:xfrm>
            <a:off x="2122059" y="3288750"/>
            <a:ext cx="1576787" cy="313632"/>
          </a:xfrm>
          <a:prstGeom prst="roundRect">
            <a:avLst/>
          </a:prstGeom>
          <a:solidFill>
            <a:srgbClr val="ECEAE4"/>
          </a:solidFill>
          <a:ln w="15875" cap="flat" cmpd="sng" algn="ctr">
            <a:solidFill>
              <a:srgbClr val="B5B0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dirty="0">
                <a:solidFill>
                  <a:srgbClr val="3A3A3A"/>
                </a:solidFill>
              </a:rPr>
              <a:t>Reference trajectory</a:t>
            </a:r>
          </a:p>
        </p:txBody>
      </p:sp>
      <p:sp>
        <p:nvSpPr>
          <p:cNvPr id="25" name="fc_m6">
            <a:extLst>
              <a:ext uri="{FF2B5EF4-FFF2-40B4-BE49-F238E27FC236}">
                <a16:creationId xmlns:a16="http://schemas.microsoft.com/office/drawing/2014/main" id="{02BB8852-3346-47FA-8654-C0EE854F13A4}"/>
              </a:ext>
            </a:extLst>
          </p:cNvPr>
          <p:cNvSpPr/>
          <p:nvPr/>
        </p:nvSpPr>
        <p:spPr>
          <a:xfrm>
            <a:off x="2122060" y="3970793"/>
            <a:ext cx="1576786" cy="313634"/>
          </a:xfrm>
          <a:prstGeom prst="roundRect">
            <a:avLst/>
          </a:prstGeom>
          <a:solidFill>
            <a:srgbClr val="D6E6F5"/>
          </a:solidFill>
          <a:ln w="15875" cap="flat" cmpd="sng" algn="ctr">
            <a:solidFill>
              <a:srgbClr val="5B92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F5C99"/>
                </a:solidFill>
              </a:rPr>
              <a:t>Isaac Sim validation</a:t>
            </a:r>
          </a:p>
        </p:txBody>
      </p:sp>
      <p:cxnSp>
        <p:nvCxnSpPr>
          <p:cNvPr id="400" name="conn400"/>
          <p:cNvCxnSpPr>
            <a:cxnSpLocks/>
          </p:cNvCxnSpPr>
          <p:nvPr/>
        </p:nvCxnSpPr>
        <p:spPr>
          <a:xfrm>
            <a:off x="1041400" y="1778000"/>
            <a:ext cx="926548" cy="482600"/>
          </a:xfrm>
          <a:prstGeom prst="line">
            <a:avLst/>
          </a:prstGeom>
          <a:ln w="22225" cap="rnd">
            <a:solidFill>
              <a:srgbClr val="7A7A7A"/>
            </a:solidFill>
            <a:prstDash val="solid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1" name="conn401"/>
          <p:cNvCxnSpPr>
            <a:cxnSpLocks/>
            <a:stCxn id="19" idx="2"/>
            <a:endCxn id="22" idx="0"/>
          </p:cNvCxnSpPr>
          <p:nvPr/>
        </p:nvCxnSpPr>
        <p:spPr>
          <a:xfrm>
            <a:off x="2910453" y="1778000"/>
            <a:ext cx="2207" cy="482600"/>
          </a:xfrm>
          <a:prstGeom prst="line">
            <a:avLst/>
          </a:prstGeom>
          <a:ln w="22225" cap="rnd">
            <a:solidFill>
              <a:srgbClr val="7A7A7A"/>
            </a:solidFill>
            <a:prstDash val="solid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2" name="conn402"/>
          <p:cNvCxnSpPr>
            <a:cxnSpLocks/>
            <a:stCxn id="20" idx="2"/>
          </p:cNvCxnSpPr>
          <p:nvPr/>
        </p:nvCxnSpPr>
        <p:spPr>
          <a:xfrm flipH="1">
            <a:off x="3854450" y="1778000"/>
            <a:ext cx="828592" cy="482600"/>
          </a:xfrm>
          <a:prstGeom prst="line">
            <a:avLst/>
          </a:prstGeom>
          <a:ln w="22225" cap="rnd">
            <a:solidFill>
              <a:srgbClr val="7A7A7A"/>
            </a:solidFill>
            <a:prstDash val="solid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3" name="conn403"/>
          <p:cNvCxnSpPr>
            <a:cxnSpLocks/>
            <a:stCxn id="23" idx="3"/>
            <a:endCxn id="22" idx="1"/>
          </p:cNvCxnSpPr>
          <p:nvPr/>
        </p:nvCxnSpPr>
        <p:spPr>
          <a:xfrm flipV="1">
            <a:off x="1542082" y="2519680"/>
            <a:ext cx="389421" cy="6697"/>
          </a:xfrm>
          <a:prstGeom prst="line">
            <a:avLst/>
          </a:prstGeom>
          <a:ln w="22225" cap="rnd">
            <a:solidFill>
              <a:srgbClr val="7A7A7A"/>
            </a:solidFill>
            <a:prstDash val="solid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4" name="conn404"/>
          <p:cNvCxnSpPr>
            <a:cxnSpLocks/>
            <a:stCxn id="22" idx="2"/>
            <a:endCxn id="24" idx="0"/>
          </p:cNvCxnSpPr>
          <p:nvPr/>
        </p:nvCxnSpPr>
        <p:spPr>
          <a:xfrm flipH="1">
            <a:off x="2910453" y="2778759"/>
            <a:ext cx="2207" cy="509991"/>
          </a:xfrm>
          <a:prstGeom prst="line">
            <a:avLst/>
          </a:prstGeom>
          <a:ln w="22225" cap="rnd">
            <a:solidFill>
              <a:srgbClr val="7A7A7A"/>
            </a:solidFill>
            <a:prstDash val="solid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5" name="conn405"/>
          <p:cNvCxnSpPr>
            <a:cxnSpLocks/>
            <a:stCxn id="24" idx="2"/>
            <a:endCxn id="25" idx="0"/>
          </p:cNvCxnSpPr>
          <p:nvPr/>
        </p:nvCxnSpPr>
        <p:spPr>
          <a:xfrm>
            <a:off x="2910453" y="3602382"/>
            <a:ext cx="0" cy="368411"/>
          </a:xfrm>
          <a:prstGeom prst="line">
            <a:avLst/>
          </a:prstGeom>
          <a:ln w="22225" cap="rnd">
            <a:solidFill>
              <a:srgbClr val="7A7A7A"/>
            </a:solidFill>
            <a:prstDash val="solid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6" name="conn406"/>
          <p:cNvCxnSpPr>
            <a:cxnSpLocks/>
          </p:cNvCxnSpPr>
          <p:nvPr/>
        </p:nvCxnSpPr>
        <p:spPr>
          <a:xfrm>
            <a:off x="3893816" y="2519901"/>
            <a:ext cx="439645" cy="0"/>
          </a:xfrm>
          <a:prstGeom prst="line">
            <a:avLst/>
          </a:prstGeom>
          <a:ln w="22225" cap="rnd">
            <a:solidFill>
              <a:srgbClr val="7A7A7A"/>
            </a:solidFill>
            <a:prstDash val="dash"/>
            <a:headEnd type="none"/>
            <a:tailEnd type="none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7" name="conn407"/>
          <p:cNvCxnSpPr>
            <a:cxnSpLocks/>
          </p:cNvCxnSpPr>
          <p:nvPr/>
        </p:nvCxnSpPr>
        <p:spPr>
          <a:xfrm>
            <a:off x="4282716" y="2524981"/>
            <a:ext cx="20541" cy="1602629"/>
          </a:xfrm>
          <a:prstGeom prst="line">
            <a:avLst/>
          </a:prstGeom>
          <a:ln w="22225" cap="rnd">
            <a:solidFill>
              <a:srgbClr val="7A7A7A"/>
            </a:solidFill>
            <a:prstDash val="dash"/>
            <a:headEnd type="none"/>
            <a:tailEnd type="none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cxnSp>
        <p:nvCxnSpPr>
          <p:cNvPr id="408" name="conn408"/>
          <p:cNvCxnSpPr>
            <a:cxnSpLocks/>
          </p:cNvCxnSpPr>
          <p:nvPr/>
        </p:nvCxnSpPr>
        <p:spPr>
          <a:xfrm flipH="1">
            <a:off x="3680957" y="4127610"/>
            <a:ext cx="622300" cy="0"/>
          </a:xfrm>
          <a:prstGeom prst="line">
            <a:avLst/>
          </a:prstGeom>
          <a:ln w="22225" cap="rnd">
            <a:solidFill>
              <a:srgbClr val="7A7A7A"/>
            </a:solidFill>
            <a:prstDash val="dash"/>
            <a:headEnd type="none"/>
            <a:tailEnd type="triangle" w="med" len="med"/>
          </a:ln>
        </p:spPr>
        <p:style>
          <a:lnRef idx="1">
            <a:scrgbClr r="50000" g="50000" b="50000"/>
          </a:lnRef>
          <a:fillRef idx="0">
            <a:scrgbClr r="50000" g="50000" b="50000"/>
          </a:fillRef>
          <a:effectRef idx="0">
            <a:scrgbClr r="50000" g="50000" b="50000"/>
          </a:effectRef>
          <a:fontRef idx="minor"/>
        </p:style>
      </p:cxnSp>
      <p:sp>
        <p:nvSpPr>
          <p:cNvPr id="27" name="Text 2">
            <a:extLst>
              <a:ext uri="{FF2B5EF4-FFF2-40B4-BE49-F238E27FC236}">
                <a16:creationId xmlns:a16="http://schemas.microsoft.com/office/drawing/2014/main" id="{D758FBF6-7F7D-F159-DB0E-337C46C499E5}"/>
              </a:ext>
            </a:extLst>
          </p:cNvPr>
          <p:cNvSpPr/>
          <p:nvPr/>
        </p:nvSpPr>
        <p:spPr>
          <a:xfrm>
            <a:off x="6023826" y="1483358"/>
            <a:ext cx="2871088" cy="3017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only the base SE(3) trajectory and arm joint references; </a:t>
            </a:r>
            <a:b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controller handles thrust and tilt allocation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ko-KR" sz="1200" dirty="0" err="1"/>
              <a:t>Smooth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contact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model</a:t>
            </a:r>
            <a:r>
              <a:rPr lang="ko-KR" altLang="ko-KR" sz="1200" dirty="0"/>
              <a:t>: </a:t>
            </a:r>
            <a:r>
              <a:rPr lang="ko-KR" altLang="ko-KR" sz="1200" dirty="0" err="1"/>
              <a:t>force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</a:t>
            </a:r>
            <a:r>
              <a:rPr lang="ko-KR" altLang="ko-KR" sz="1200" dirty="0"/>
              <a:t> </a:t>
            </a:r>
            <a:r>
              <a:rPr lang="ko-KR" altLang="ko-KR" sz="1200" dirty="0" err="1"/>
              <a:t>differentiable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function</a:t>
            </a:r>
            <a:r>
              <a:rPr lang="ko-KR" altLang="ko-KR" sz="1200" dirty="0"/>
              <a:t> of </a:t>
            </a:r>
            <a:r>
              <a:rPr lang="ko-KR" altLang="ko-KR" sz="1200" dirty="0" err="1"/>
              <a:t>virtual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penetration</a:t>
            </a:r>
            <a:r>
              <a:rPr lang="ko-KR" altLang="ko-KR" sz="1200" dirty="0"/>
              <a:t> </a:t>
            </a:r>
            <a:endParaRPr lang="en-US" altLang="ko-KR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ko-KR" sz="1200" dirty="0"/>
              <a:t>One OCP</a:t>
            </a:r>
            <a:r>
              <a:rPr lang="en-US" altLang="ko-KR" sz="1200" dirty="0"/>
              <a:t> Planner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covers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all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four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phases</a:t>
            </a:r>
            <a:r>
              <a:rPr lang="ko-KR" altLang="ko-KR" sz="1200" dirty="0"/>
              <a:t> (</a:t>
            </a:r>
            <a:r>
              <a:rPr lang="ko-KR" altLang="ko-KR" sz="1200" dirty="0" err="1"/>
              <a:t>approach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grasp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transport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release</a:t>
            </a:r>
            <a:r>
              <a:rPr lang="ko-KR" altLang="ko-KR" sz="1200" dirty="0"/>
              <a:t>). </a:t>
            </a:r>
            <a:r>
              <a:rPr lang="ko-KR" altLang="ko-KR" sz="1200" dirty="0" err="1"/>
              <a:t>No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complementarity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no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active-set</a:t>
            </a:r>
            <a:endParaRPr lang="en-US" altLang="ko-KR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ko-KR" sz="1200" dirty="0"/>
              <a:t>The </a:t>
            </a:r>
            <a:r>
              <a:rPr lang="ko-KR" altLang="ko-KR" sz="1200" dirty="0" err="1"/>
              <a:t>box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held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only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by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friction</a:t>
            </a:r>
            <a:r>
              <a:rPr lang="ko-KR" altLang="ko-KR" sz="1200" dirty="0"/>
              <a:t>, </a:t>
            </a:r>
            <a:br>
              <a:rPr lang="en-US" altLang="ko-KR" sz="1200" dirty="0"/>
            </a:br>
            <a:r>
              <a:rPr lang="ko-KR" altLang="ko-KR" sz="1200" dirty="0" err="1"/>
              <a:t>so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the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required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squeeze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grows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with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acceleration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95942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Plan and Timeline</a:t>
            </a:r>
            <a:endParaRPr lang="en-US" sz="2500" dirty="0"/>
          </a:p>
        </p:txBody>
      </p:sp>
      <p:pic>
        <p:nvPicPr>
          <p:cNvPr id="4" name="Image 0" descr="/home/claude/proj/build/assets/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3158656" cy="184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6171" y="2796959"/>
            <a:ext cx="26876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environment (already built)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3242188"/>
            <a:ext cx="315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Pinocchio + CasADi + IPOPT, Isaac Sim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10001" y="9144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and metrics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35553" y="1344168"/>
            <a:ext cx="501197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normal force; </a:t>
            </a:r>
            <a:r>
              <a:rPr lang="ko-KR" altLang="ko-KR" sz="1200" dirty="0" err="1"/>
              <a:t>base</a:t>
            </a:r>
            <a:r>
              <a:rPr lang="ko-KR" altLang="ko-KR" sz="1200" dirty="0"/>
              <a:t> and </a:t>
            </a:r>
            <a:r>
              <a:rPr lang="ko-KR" altLang="ko-KR" sz="1200" dirty="0" err="1"/>
              <a:t>arm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planned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separately</a:t>
            </a:r>
            <a:r>
              <a:rPr lang="ko-KR" altLang="ko-KR" sz="1200" dirty="0"/>
              <a:t> (</a:t>
            </a:r>
            <a:r>
              <a:rPr lang="ko-KR" altLang="ko-KR" sz="1200" dirty="0" err="1"/>
              <a:t>not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jointly</a:t>
            </a:r>
            <a:r>
              <a:rPr lang="ko-KR" altLang="ko-KR" sz="1200" dirty="0"/>
              <a:t>)</a:t>
            </a:r>
            <a:endParaRPr lang="en-US" altLang="ko-KR" sz="1200" dirty="0"/>
          </a:p>
          <a:p>
            <a:pPr>
              <a:lnSpc>
                <a:spcPct val="103000"/>
              </a:lnSpc>
              <a:spcAft>
                <a:spcPts val="600"/>
              </a:spcAft>
            </a:pPr>
            <a:endParaRPr lang="en-US" altLang="ko-KR" sz="1200" dirty="0"/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success, force-tracking error, </a:t>
            </a:r>
            <a:b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rate vs acceleration, placement accuracy, compute time …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16096" y="2670048"/>
            <a:ext cx="5011971" cy="603504"/>
          </a:xfrm>
          <a:prstGeom prst="rect">
            <a:avLst/>
          </a:prstGeom>
          <a:noFill/>
          <a:ln w="13970">
            <a:solidFill>
              <a:srgbClr val="4F8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816097" y="2670048"/>
            <a:ext cx="82296" cy="603504"/>
          </a:xfrm>
          <a:prstGeom prst="rect">
            <a:avLst/>
          </a:prstGeom>
          <a:solidFill>
            <a:srgbClr val="2568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035553" y="2670048"/>
            <a:ext cx="4792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slip-aware sustains higher acceleration without slip than a fixed force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3666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11480" y="3995928"/>
            <a:ext cx="26029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21208" y="4114800"/>
            <a:ext cx="310896" cy="310896"/>
          </a:xfrm>
          <a:prstGeom prst="ellipse">
            <a:avLst/>
          </a:prstGeom>
          <a:solidFill>
            <a:srgbClr val="2568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2120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23544" y="4050792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multi-phase OCP; contact-model identification in sim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051048" y="4297680"/>
            <a:ext cx="164592" cy="146304"/>
          </a:xfrm>
          <a:prstGeom prst="rtTriangle">
            <a:avLst/>
          </a:prstGeom>
          <a:solidFill>
            <a:srgbClr val="A8B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270504" y="3995928"/>
            <a:ext cx="26029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380232" y="4114800"/>
            <a:ext cx="310896" cy="310896"/>
          </a:xfrm>
          <a:prstGeom prst="ellipse">
            <a:avLst/>
          </a:prstGeom>
          <a:solidFill>
            <a:srgbClr val="2568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38023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82568" y="4050792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Slip-aware policy; transport experiments; baselines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10072" y="4297680"/>
            <a:ext cx="164592" cy="146304"/>
          </a:xfrm>
          <a:prstGeom prst="rtTriangle">
            <a:avLst/>
          </a:prstGeom>
          <a:solidFill>
            <a:srgbClr val="A8B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129528" y="3995928"/>
            <a:ext cx="260299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Shape 22"/>
          <p:cNvSpPr/>
          <p:nvPr/>
        </p:nvSpPr>
        <p:spPr>
          <a:xfrm>
            <a:off x="6239256" y="4114800"/>
            <a:ext cx="310896" cy="310896"/>
          </a:xfrm>
          <a:prstGeom prst="ellipse">
            <a:avLst/>
          </a:prstGeom>
          <a:solidFill>
            <a:srgbClr val="2568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239256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41592" y="4050792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and analysis; report and lightning talk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9F6E5-07CC-C8FD-577C-4B8C5F28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9E42613-8F5F-D390-3C10-6E7C3DE5EFCE}"/>
              </a:ext>
            </a:extLst>
          </p:cNvPr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Timeline</a:t>
            </a:r>
            <a:endParaRPr lang="en-US" sz="25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1FE8FF0E-9009-3132-0C29-C28B456FBBCD}"/>
              </a:ext>
            </a:extLst>
          </p:cNvPr>
          <p:cNvSpPr/>
          <p:nvPr/>
        </p:nvSpPr>
        <p:spPr>
          <a:xfrm>
            <a:off x="457200" y="1995678"/>
            <a:ext cx="8229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9198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Whole-Body Contact-MPC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only the base SE(3) trajectory and arm joint references; </a:t>
            </a:r>
            <a:b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controller handles thrust and tilt allocation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(soft) contact model: force is a smooth function of virtual penetration, set by the commanded end-effector pose (predictive admittance)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mode schedule: approach, grasp, transport, release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Free-body object dynamics and the friction cone enter the MPC prediction; a light FSM switches phase objectives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0"/>
            <a:ext cx="4572000" cy="914400"/>
          </a:xfrm>
          <a:prstGeom prst="rect">
            <a:avLst/>
          </a:prstGeom>
          <a:solidFill>
            <a:srgbClr val="DCE8FB"/>
          </a:solidFill>
          <a:ln w="15875">
            <a:solidFill>
              <a:srgbClr val="4F86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1480" y="3200400"/>
            <a:ext cx="82296" cy="914400"/>
          </a:xfrm>
          <a:prstGeom prst="rect">
            <a:avLst/>
          </a:prstGeom>
          <a:solidFill>
            <a:srgbClr val="2568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30936" y="3200400"/>
            <a:ext cx="4187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1200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contact makes the non-contact to contact transition differentiable, so a single whole-body NMPC covers all phases. No complementarity, no active-set.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4224528"/>
            <a:ext cx="457200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21208" y="4261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900" dirty="0"/>
          </a:p>
        </p:txBody>
      </p:sp>
      <p:pic>
        <p:nvPicPr>
          <p:cNvPr id="10" name="Image 0" descr="/home/claude/proj/build/assets/eq_dy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75" y="4480560"/>
            <a:ext cx="1892410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97480" y="4297680"/>
            <a:ext cx="0" cy="420624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807208" y="4261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contact force</a:t>
            </a:r>
            <a:endParaRPr lang="en-US" sz="900" dirty="0"/>
          </a:p>
        </p:txBody>
      </p:sp>
      <p:pic>
        <p:nvPicPr>
          <p:cNvPr id="13" name="Image 1" descr="/home/claude/proj/build/assets/eq_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100" y="4480560"/>
            <a:ext cx="1258759" cy="274320"/>
          </a:xfrm>
          <a:prstGeom prst="rect">
            <a:avLst/>
          </a:prstGeom>
        </p:spPr>
      </p:pic>
      <p:pic>
        <p:nvPicPr>
          <p:cNvPr id="14" name="Image 2" descr="/home/claude/proj/build/assets/fig_phas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741" y="914400"/>
            <a:ext cx="3361678" cy="1828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27614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gap and contact force across the four phases</a:t>
            </a:r>
            <a:endParaRPr lang="en-US" sz="1000" dirty="0"/>
          </a:p>
        </p:txBody>
      </p:sp>
      <p:pic>
        <p:nvPicPr>
          <p:cNvPr id="16" name="Image 3" descr="/home/claude/proj/build/assets/softp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2142" y="3127248"/>
            <a:ext cx="2428875" cy="1143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42611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soft-contact pad model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Slip-Aware Force Regulation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is held only by friction, with no form closure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and accelerating raises the required tangential force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required squeeze force grows with acceleration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policy raises the squeeze setpoint with the commanded acceleration, plus a safety margin; a fixed 5 N baseline slips past a critical acceleration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human motor control: people raise grip force together with manipulation force (Zatsiorsky)</a:t>
            </a:r>
            <a:endParaRPr lang="en-US" sz="1250" dirty="0"/>
          </a:p>
        </p:txBody>
      </p:sp>
      <p:pic>
        <p:nvPicPr>
          <p:cNvPr id="5" name="Image 0" descr="/home/claude/proj/build/assets/fig_contac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89" y="896112"/>
            <a:ext cx="2173501" cy="1691640"/>
          </a:xfrm>
          <a:prstGeom prst="rect">
            <a:avLst/>
          </a:prstGeom>
        </p:spPr>
      </p:pic>
      <p:pic>
        <p:nvPicPr>
          <p:cNvPr id="6" name="Image 1" descr="/home/claude/proj/build/assets/fig_sl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994" y="2670048"/>
            <a:ext cx="2269692" cy="17190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4480560"/>
            <a:ext cx="8321040" cy="420624"/>
          </a:xfrm>
          <a:prstGeom prst="rect">
            <a:avLst/>
          </a:prstGeom>
          <a:solidFill>
            <a:srgbClr val="F2F5FA"/>
          </a:solidFill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521208" y="44805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</a:t>
            </a:r>
            <a:endParaRPr lang="en-US" sz="1050" dirty="0"/>
          </a:p>
        </p:txBody>
      </p:sp>
      <p:pic>
        <p:nvPicPr>
          <p:cNvPr id="9" name="Image 2" descr="/home/claude/proj/build/assets/eq_c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220" y="4544568"/>
            <a:ext cx="960120" cy="274320"/>
          </a:xfrm>
          <a:prstGeom prst="rect">
            <a:avLst/>
          </a:prstGeom>
        </p:spPr>
      </p:pic>
      <p:pic>
        <p:nvPicPr>
          <p:cNvPr id="10" name="Image 3" descr="/home/claude/proj/build/assets/eq_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963" y="4535424"/>
            <a:ext cx="1444075" cy="292608"/>
          </a:xfrm>
          <a:prstGeom prst="rect">
            <a:avLst/>
          </a:prstGeom>
        </p:spPr>
      </p:pic>
      <p:pic>
        <p:nvPicPr>
          <p:cNvPr id="11" name="Image 4" descr="/home/claude/proj/build/assets/eq_f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929" y="4517136"/>
            <a:ext cx="1035981" cy="347472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246120" y="4544568"/>
            <a:ext cx="0" cy="292608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5806440" y="4544568"/>
            <a:ext cx="0" cy="292608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1275D2-CCA4-4C31-9F24-143CA193109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163d87b-4484-4453-bc71-e7d78ec91a0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1476</Words>
  <Application>Microsoft Office PowerPoint</Application>
  <PresentationFormat>화면 슬라이드 쇼(16:9)</PresentationFormat>
  <Paragraphs>122</Paragraphs>
  <Slides>8</Slides>
  <Notes>8</Notes>
  <HiddenSlides>2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Whole-Body Contact-MPC for Dual-Arm Aerial Box Transport</dc:title>
  <dc:subject>PptxGenJS Presentation</dc:subject>
  <dc:creator>Jaewoo Lee, Yongjun You</dc:creator>
  <cp:lastModifiedBy>JAEWOO LEE</cp:lastModifiedBy>
  <cp:revision>3</cp:revision>
  <dcterms:created xsi:type="dcterms:W3CDTF">2026-06-07T20:04:22Z</dcterms:created>
  <dcterms:modified xsi:type="dcterms:W3CDTF">2026-06-14T21:48:41Z</dcterms:modified>
</cp:coreProperties>
</file>