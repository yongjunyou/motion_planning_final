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0" bIns="0"/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The Problem: Threading a Narrow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40000"/>
            <a:ext cx="4250000" cy="1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4472C4"/>
                </a:solidFill>
                <a:latin typeface="Calibri"/>
              </a:rPr>
              <a:t>Task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A dual-arm omnidirectional aerial robot carries a box from a desk, through a partially-open tilted awning window, to a shelf.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•  Threading the gap needs whole-body reconfiguration while holding the box.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680000"/>
            <a:ext cx="4250000" cy="2150000"/>
          </a:xfrm>
          <a:prstGeom prst="roundRect">
            <a:avLst/>
          </a:prstGeom>
          <a:solidFill>
            <a:srgbClr val="E7E6E6"/>
          </a:solidFill>
          <a:ln w="15875">
            <a:solidFill>
              <a:srgbClr val="8080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808080"/>
                </a:solidFill>
                <a:latin typeface="Calibri"/>
              </a:rPr>
              <a:t>[ IsaacSim scene / overview image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30000" y="940000"/>
            <a:ext cx="3900000" cy="1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4472C4"/>
                </a:solidFill>
                <a:latin typeface="Calibri"/>
              </a:rPr>
              <a:t>Two baselines fall short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 Pure sampling (geometric): no dynamic feasibility, cannot encode smooth dynamics or quadratic costs (e.g. keep the box under the base to cut load torque).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•  Pure optimization (naive seed): non-convex collision constraints trap it in infeasible local minima; it does not converge.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30000" y="2700000"/>
          <a:ext cx="3900000" cy="2100000"/>
        </p:xfrm>
        <a:graphic>
          <a:graphicData uri="http://schemas.openxmlformats.org/drawingml/2006/table">
            <a:tbl>
              <a:tblPr firstRow="0" bandRow="0"/>
              <a:tblGrid>
                <a:gridCol w="1450000"/>
                <a:gridCol w="600000"/>
                <a:gridCol w="750000"/>
                <a:gridCol w="1100000"/>
              </a:tblGrid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Init. strategy</a:t>
                      </a:r>
                    </a:p>
                  </a:txBody>
                  <a:tcPr anchor="ctr" marL="45720" marR="45720" marT="18000" marB="18000">
                    <a:solidFill>
                      <a:srgbClr val="1B2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Conv.</a:t>
                      </a:r>
                    </a:p>
                  </a:txBody>
                  <a:tcPr anchor="ctr" marL="45720" marR="45720" marT="18000" marB="18000">
                    <a:solidFill>
                      <a:srgbClr val="1B2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 (s)</a:t>
                      </a:r>
                    </a:p>
                  </a:txBody>
                  <a:tcPr anchor="ctr" marL="45720" marR="45720" marT="18000" marB="18000">
                    <a:solidFill>
                      <a:srgbClr val="1B2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 marL="45720" marR="45720" marT="18000" marB="18000">
                    <a:solidFill>
                      <a:srgbClr val="1B2A4B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Naive OCP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0/10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 solution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Linear-interp OCP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0/10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no solution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Sampling-seeded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479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grazes (−2.7 cm)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Keyframe (ours)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~1700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clear (+2.8 cm)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OMPL (geometric)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~20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kinematic only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0" bIns="0"/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Our Idea: A Single Keyframe as the Seed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0000" y="940000"/>
            <a:ext cx="4150000" cy="1950000"/>
          </a:xfrm>
          <a:prstGeom prst="roundRect">
            <a:avLst/>
          </a:prstGeom>
          <a:solidFill>
            <a:srgbClr val="E7E6E6"/>
          </a:solidFill>
          <a:ln w="15875">
            <a:solidFill>
              <a:srgbClr val="8080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808080"/>
                </a:solidFill>
                <a:latin typeface="Calibri"/>
              </a:rPr>
              <a:t>[ Video: Sampling-seeded
(sideways yaw twist)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0000" y="940000"/>
            <a:ext cx="4150000" cy="1950000"/>
          </a:xfrm>
          <a:prstGeom prst="roundRect">
            <a:avLst/>
          </a:prstGeom>
          <a:solidFill>
            <a:srgbClr val="E7E6E6"/>
          </a:solidFill>
          <a:ln w="15875">
            <a:solidFill>
              <a:srgbClr val="8080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808080"/>
                </a:solidFill>
                <a:latin typeface="Calibri"/>
              </a:rPr>
              <a:t>[ Video: Keyframe-guided (ours)
(natural pitch-forward)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000" y="2980000"/>
            <a:ext cx="415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Sampling-seeded: a sampler path seeds the OCP — it passes but twists sideways and grazes the frame.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0000" y="2980000"/>
            <a:ext cx="4150000" cy="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Keyframe-guided: one keyframe selects the passage — a natural pitch-forward motion with more clearance.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3760000"/>
            <a:ext cx="838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472C4"/>
                </a:solidFill>
                <a:latin typeface="Calibri"/>
              </a:rPr>
              <a:t>The OCP seed decides everything. We build it from a single keyframe: the drone pose at the window, set by a human in the simulator, interpolated on the grasp manifold into the seed and a soft waypoint guide.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0" bIns="0"/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The Result: A Better, Safer Passage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0000" y="940000"/>
            <a:ext cx="44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472C4"/>
                </a:solidFill>
                <a:latin typeface="Calibri"/>
              </a:rPr>
              <a:t>Quality of the collision-free passages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0000" y="1280000"/>
          <a:ext cx="4400000" cy="1850000"/>
        </p:xfrm>
        <a:graphic>
          <a:graphicData uri="http://schemas.openxmlformats.org/drawingml/2006/table">
            <a:tbl>
              <a:tblPr firstRow="0" bandRow="0"/>
              <a:tblGrid>
                <a:gridCol w="2050000"/>
                <a:gridCol w="1050000"/>
                <a:gridCol w="1300000"/>
              </a:tblGrid>
              <a:tr h="37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45720" marR="45720" marT="18000" marB="18000">
                    <a:solidFill>
                      <a:srgbClr val="1B2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Sampling</a:t>
                      </a:r>
                    </a:p>
                  </a:txBody>
                  <a:tcPr anchor="ctr" marL="45720" marR="45720" marT="18000" marB="18000">
                    <a:solidFill>
                      <a:srgbClr val="1B2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Keyframe (ours)</a:t>
                      </a:r>
                    </a:p>
                  </a:txBody>
                  <a:tcPr anchor="ctr" marL="45720" marR="45720" marT="18000" marB="18000">
                    <a:solidFill>
                      <a:srgbClr val="1B2A4B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Min. clearance (cm)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−2.7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+2.8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Penetrating knots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 / 149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0 / 149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Base rot. path (deg)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327.8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251.2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Base transl. path (m)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11.54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10.13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00000" y="940000"/>
            <a:ext cx="376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472C4"/>
                </a:solidFill>
                <a:latin typeface="Calibri"/>
              </a:rPr>
              <a:t>Robust to the keyframe pitch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00000" y="1280000"/>
          <a:ext cx="3760000" cy="1300000"/>
        </p:xfrm>
        <a:graphic>
          <a:graphicData uri="http://schemas.openxmlformats.org/drawingml/2006/table">
            <a:tbl>
              <a:tblPr firstRow="0" bandRow="0"/>
              <a:tblGrid>
                <a:gridCol w="1350000"/>
                <a:gridCol w="600000"/>
                <a:gridCol w="950000"/>
                <a:gridCol w="860000"/>
              </a:tblGrid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Keyframe pitch</a:t>
                      </a:r>
                    </a:p>
                  </a:txBody>
                  <a:tcPr anchor="ctr" marL="45720" marR="45720" marT="18000" marB="18000">
                    <a:solidFill>
                      <a:srgbClr val="1B2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Conv.</a:t>
                      </a:r>
                    </a:p>
                  </a:txBody>
                  <a:tcPr anchor="ctr" marL="45720" marR="45720" marT="18000" marB="18000">
                    <a:solidFill>
                      <a:srgbClr val="1B2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Pitch-fwd</a:t>
                      </a:r>
                    </a:p>
                  </a:txBody>
                  <a:tcPr anchor="ctr" marL="45720" marR="45720" marT="18000" marB="18000">
                    <a:solidFill>
                      <a:srgbClr val="1B2A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Clear (cm)</a:t>
                      </a:r>
                    </a:p>
                  </a:txBody>
                  <a:tcPr anchor="ctr" marL="45720" marR="45720" marT="18000" marB="18000">
                    <a:solidFill>
                      <a:srgbClr val="1B2A4B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50°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+5.4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60° (ref)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+6.8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  <a:tr h="3250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70°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+4.3</a:t>
                      </a:r>
                    </a:p>
                  </a:txBody>
                  <a:tcPr anchor="ctr" marL="45720" marR="4572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00000" y="2780000"/>
            <a:ext cx="376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T2: keyframe clears the frame with less wasted whole-body rotation.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•  T3: a ±10° keyframe still reaches the same safe passage.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000" y="3950000"/>
            <a:ext cx="8380000" cy="820000"/>
          </a:xfrm>
          <a:prstGeom prst="roundRect">
            <a:avLst/>
          </a:prstGeom>
          <a:solidFill>
            <a:srgbClr val="1B2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rIns="200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Conclusion:  a single human keyframe steers the optimizer into a better, safer homotopy — a natural pitch-forward passage with more clearance.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